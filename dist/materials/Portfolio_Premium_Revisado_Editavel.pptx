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7315200" cy="9144000"/>
  <p:notesSz cx="9144000" cy="7315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02336"/>
            <a:ext cx="6492240" cy="0"/>
          </a:xfrm>
          <a:prstGeom prst="line">
            <a:avLst/>
          </a:prstGeom>
          <a:noFill/>
          <a:ln w="6985">
            <a:solidFill>
              <a:srgbClr val="D7C7B9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8741664"/>
            <a:ext cx="6492240" cy="0"/>
          </a:xfrm>
          <a:prstGeom prst="line">
            <a:avLst/>
          </a:prstGeom>
          <a:noFill/>
          <a:ln w="6985">
            <a:solidFill>
              <a:srgbClr val="D7C7B9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00" cy="2816352"/>
          </a:xfrm>
          <a:prstGeom prst="rect">
            <a:avLst/>
          </a:prstGeom>
          <a:solidFill>
            <a:srgbClr val="2D231F"/>
          </a:solidFill>
          <a:ln w="12700">
            <a:solidFill>
              <a:srgbClr val="2D23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94944"/>
            <a:ext cx="36576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3D7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PORTFÓLIO DEMONSTRATIVO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1051560"/>
            <a:ext cx="5212080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Conteúdo digital para negócios de beleza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85216" y="2157984"/>
            <a:ext cx="53492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9DC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Posts, legendas e roteiros para transformar um Instagram improvisado em uma presença mais profissional, ativa e fácil de aprovar.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8368" y="3364992"/>
            <a:ext cx="1920240" cy="3383280"/>
          </a:xfrm>
          <a:prstGeom prst="roundRect">
            <a:avLst>
              <a:gd name="adj" fmla="val 7143"/>
            </a:avLst>
          </a:prstGeom>
          <a:solidFill>
            <a:srgbClr val="FFFDF8"/>
          </a:solidFill>
          <a:ln w="10160">
            <a:solidFill>
              <a:srgbClr val="CAB9A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438144"/>
            <a:ext cx="1773936" cy="3236976"/>
          </a:xfrm>
          <a:prstGeom prst="roundRect">
            <a:avLst>
              <a:gd name="adj" fmla="val 6186"/>
            </a:avLst>
          </a:prstGeom>
          <a:solidFill>
            <a:srgbClr val="FFF8F1"/>
          </a:solidFill>
          <a:ln w="10160">
            <a:solidFill>
              <a:srgbClr val="FFF8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3621024"/>
            <a:ext cx="15544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2A21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Studio Aurora</a:t>
            </a:r>
            <a:endParaRPr lang="en-US" sz="730" dirty="0"/>
          </a:p>
        </p:txBody>
      </p:sp>
      <p:sp>
        <p:nvSpPr>
          <p:cNvPr id="11" name="Text 9"/>
          <p:cNvSpPr/>
          <p:nvPr/>
        </p:nvSpPr>
        <p:spPr>
          <a:xfrm>
            <a:off x="841248" y="3858768"/>
            <a:ext cx="15544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80" dirty="0">
                <a:solidFill>
                  <a:srgbClr val="756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estética facial</a:t>
            </a:r>
            <a:endParaRPr lang="en-US" sz="580" dirty="0"/>
          </a:p>
        </p:txBody>
      </p:sp>
      <p:sp>
        <p:nvSpPr>
          <p:cNvPr id="12" name="Shape 10"/>
          <p:cNvSpPr/>
          <p:nvPr/>
        </p:nvSpPr>
        <p:spPr>
          <a:xfrm>
            <a:off x="877824" y="4169664"/>
            <a:ext cx="448056" cy="448056"/>
          </a:xfrm>
          <a:prstGeom prst="rect">
            <a:avLst/>
          </a:prstGeom>
          <a:solidFill>
            <a:srgbClr val="EAD7C4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94460" y="4169664"/>
            <a:ext cx="448056" cy="448056"/>
          </a:xfrm>
          <a:prstGeom prst="rect">
            <a:avLst/>
          </a:prstGeom>
          <a:solidFill>
            <a:srgbClr val="DDB6A8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11096" y="4169664"/>
            <a:ext cx="448056" cy="448056"/>
          </a:xfrm>
          <a:prstGeom prst="rect">
            <a:avLst/>
          </a:prstGeom>
          <a:solidFill>
            <a:srgbClr val="F7F0E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7824" y="4686300"/>
            <a:ext cx="448056" cy="448056"/>
          </a:xfrm>
          <a:prstGeom prst="rect">
            <a:avLst/>
          </a:prstGeom>
          <a:solidFill>
            <a:srgbClr val="B3865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94460" y="4686300"/>
            <a:ext cx="448056" cy="448056"/>
          </a:xfrm>
          <a:prstGeom prst="rect">
            <a:avLst/>
          </a:prstGeom>
          <a:solidFill>
            <a:srgbClr val="EAD7C4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11096" y="4686300"/>
            <a:ext cx="448056" cy="448056"/>
          </a:xfrm>
          <a:prstGeom prst="rect">
            <a:avLst/>
          </a:prstGeom>
          <a:solidFill>
            <a:srgbClr val="DDB6A8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7824" y="5202936"/>
            <a:ext cx="448056" cy="448056"/>
          </a:xfrm>
          <a:prstGeom prst="rect">
            <a:avLst/>
          </a:prstGeom>
          <a:solidFill>
            <a:srgbClr val="F7F0E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94460" y="5202936"/>
            <a:ext cx="448056" cy="448056"/>
          </a:xfrm>
          <a:prstGeom prst="rect">
            <a:avLst/>
          </a:prstGeom>
          <a:solidFill>
            <a:srgbClr val="B3865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11096" y="5202936"/>
            <a:ext cx="448056" cy="448056"/>
          </a:xfrm>
          <a:prstGeom prst="rect">
            <a:avLst/>
          </a:prstGeom>
          <a:solidFill>
            <a:srgbClr val="EAD7C4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6382512"/>
            <a:ext cx="1591056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30" dirty="0">
                <a:solidFill>
                  <a:srgbClr val="756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 com padrão + CTA</a:t>
            </a:r>
            <a:endParaRPr lang="en-US" sz="530" dirty="0"/>
          </a:p>
        </p:txBody>
      </p:sp>
      <p:sp>
        <p:nvSpPr>
          <p:cNvPr id="22" name="Shape 20"/>
          <p:cNvSpPr/>
          <p:nvPr/>
        </p:nvSpPr>
        <p:spPr>
          <a:xfrm>
            <a:off x="3154680" y="3291840"/>
            <a:ext cx="1609344" cy="1609344"/>
          </a:xfrm>
          <a:prstGeom prst="roundRect">
            <a:avLst>
              <a:gd name="adj" fmla="val 4545"/>
            </a:avLst>
          </a:prstGeom>
          <a:solidFill>
            <a:srgbClr val="F8F0E8"/>
          </a:solidFill>
          <a:ln w="10160">
            <a:solidFill>
              <a:srgbClr val="E2CEC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19272" y="3456432"/>
            <a:ext cx="1280160" cy="1280160"/>
          </a:xfrm>
          <a:prstGeom prst="rect">
            <a:avLst/>
          </a:prstGeom>
          <a:solidFill>
            <a:srgbClr val="FFF8F1"/>
          </a:solidFill>
          <a:ln w="12700">
            <a:solidFill>
              <a:srgbClr val="FFF8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9000" y="3611880"/>
            <a:ext cx="1060704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70" b="1" dirty="0">
                <a:solidFill>
                  <a:srgbClr val="B38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AURA PELE</a:t>
            </a:r>
            <a:endParaRPr lang="en-US" sz="570" dirty="0"/>
          </a:p>
        </p:txBody>
      </p:sp>
      <p:sp>
        <p:nvSpPr>
          <p:cNvPr id="25" name="Shape 23"/>
          <p:cNvSpPr/>
          <p:nvPr/>
        </p:nvSpPr>
        <p:spPr>
          <a:xfrm>
            <a:off x="3502152" y="3895344"/>
            <a:ext cx="914400" cy="0"/>
          </a:xfrm>
          <a:prstGeom prst="line">
            <a:avLst/>
          </a:prstGeom>
          <a:noFill/>
          <a:ln w="8890">
            <a:solidFill>
              <a:srgbClr val="B3865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10712" y="4078224"/>
            <a:ext cx="109728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2D23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Pele cuidada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3410712" y="4297680"/>
            <a:ext cx="109728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2D23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 excesso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3429000" y="4608576"/>
            <a:ext cx="106070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D23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avaliação aberta</a:t>
            </a:r>
            <a:endParaRPr lang="en-US" sz="550" dirty="0"/>
          </a:p>
        </p:txBody>
      </p:sp>
      <p:sp>
        <p:nvSpPr>
          <p:cNvPr id="29" name="Shape 27"/>
          <p:cNvSpPr/>
          <p:nvPr/>
        </p:nvSpPr>
        <p:spPr>
          <a:xfrm>
            <a:off x="4956048" y="3291840"/>
            <a:ext cx="1609344" cy="1609344"/>
          </a:xfrm>
          <a:prstGeom prst="roundRect">
            <a:avLst>
              <a:gd name="adj" fmla="val 4545"/>
            </a:avLst>
          </a:prstGeom>
          <a:solidFill>
            <a:srgbClr val="F0E9DF"/>
          </a:solidFill>
          <a:ln w="10160">
            <a:solidFill>
              <a:srgbClr val="473C3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02352" y="3438144"/>
            <a:ext cx="1316736" cy="1316736"/>
          </a:xfrm>
          <a:prstGeom prst="rect">
            <a:avLst/>
          </a:prstGeom>
          <a:solidFill>
            <a:srgbClr val="171413"/>
          </a:solidFill>
          <a:ln w="12700">
            <a:solidFill>
              <a:srgbClr val="17141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66944" y="3730752"/>
            <a:ext cx="987552" cy="0"/>
          </a:xfrm>
          <a:prstGeom prst="line">
            <a:avLst/>
          </a:prstGeom>
          <a:noFill/>
          <a:ln w="8890">
            <a:solidFill>
              <a:srgbClr val="B3865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75504" y="3913632"/>
            <a:ext cx="1170432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20" b="1" dirty="0">
                <a:solidFill>
                  <a:srgbClr val="B38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MAISON BROWS</a:t>
            </a:r>
            <a:endParaRPr lang="en-US" sz="520" dirty="0"/>
          </a:p>
        </p:txBody>
      </p:sp>
      <p:sp>
        <p:nvSpPr>
          <p:cNvPr id="33" name="Text 31"/>
          <p:cNvSpPr/>
          <p:nvPr/>
        </p:nvSpPr>
        <p:spPr>
          <a:xfrm>
            <a:off x="5184648" y="4105656"/>
            <a:ext cx="1152144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Sobrancelhas</a:t>
            </a:r>
            <a:endParaRPr lang="en-US" sz="910" dirty="0"/>
          </a:p>
        </p:txBody>
      </p:sp>
      <p:sp>
        <p:nvSpPr>
          <p:cNvPr id="34" name="Text 32"/>
          <p:cNvSpPr/>
          <p:nvPr/>
        </p:nvSpPr>
        <p:spPr>
          <a:xfrm>
            <a:off x="5184648" y="4306824"/>
            <a:ext cx="1152144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 presença</a:t>
            </a:r>
            <a:endParaRPr lang="en-US" sz="910" dirty="0"/>
          </a:p>
        </p:txBody>
      </p:sp>
      <p:sp>
        <p:nvSpPr>
          <p:cNvPr id="35" name="Text 33"/>
          <p:cNvSpPr/>
          <p:nvPr/>
        </p:nvSpPr>
        <p:spPr>
          <a:xfrm>
            <a:off x="5212080" y="4617720"/>
            <a:ext cx="10972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9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reservas abertas</a:t>
            </a:r>
            <a:endParaRPr lang="en-US" sz="490" dirty="0"/>
          </a:p>
        </p:txBody>
      </p:sp>
      <p:sp>
        <p:nvSpPr>
          <p:cNvPr id="36" name="Shape 34"/>
          <p:cNvSpPr/>
          <p:nvPr/>
        </p:nvSpPr>
        <p:spPr>
          <a:xfrm>
            <a:off x="4041648" y="5285232"/>
            <a:ext cx="1609344" cy="1609344"/>
          </a:xfrm>
          <a:prstGeom prst="roundRect">
            <a:avLst>
              <a:gd name="adj" fmla="val 4545"/>
            </a:avLst>
          </a:prstGeom>
          <a:solidFill>
            <a:srgbClr val="FFF4F7"/>
          </a:solidFill>
          <a:ln w="10160">
            <a:solidFill>
              <a:srgbClr val="F1C9D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21808" y="5376672"/>
            <a:ext cx="201168" cy="201168"/>
          </a:xfrm>
          <a:prstGeom prst="ellipse">
            <a:avLst/>
          </a:prstGeom>
          <a:solidFill>
            <a:srgbClr val="A5D9C7"/>
          </a:solidFill>
          <a:ln w="12700">
            <a:solidFill>
              <a:srgbClr val="A5D9C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151376" y="6583680"/>
            <a:ext cx="182880" cy="182880"/>
          </a:xfrm>
          <a:prstGeom prst="ellipse">
            <a:avLst/>
          </a:prstGeom>
          <a:solidFill>
            <a:srgbClr val="F3D579"/>
          </a:solidFill>
          <a:ln w="12700">
            <a:solidFill>
              <a:srgbClr val="F3D57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297680" y="5605272"/>
            <a:ext cx="1097280" cy="91440"/>
          </a:xfrm>
          <a:prstGeom prst="rect">
            <a:avLst/>
          </a:prstGeom>
          <a:solidFill>
            <a:srgbClr val="F08173"/>
          </a:solidFill>
          <a:ln w="12700">
            <a:solidFill>
              <a:srgbClr val="F0817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97680" y="5852160"/>
            <a:ext cx="109728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70" b="1" dirty="0">
                <a:solidFill>
                  <a:srgbClr val="F08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LUNA NAILS</a:t>
            </a:r>
            <a:endParaRPr lang="en-US" sz="570" dirty="0"/>
          </a:p>
        </p:txBody>
      </p:sp>
      <p:sp>
        <p:nvSpPr>
          <p:cNvPr id="41" name="Text 39"/>
          <p:cNvSpPr/>
          <p:nvPr/>
        </p:nvSpPr>
        <p:spPr>
          <a:xfrm>
            <a:off x="4315968" y="6053328"/>
            <a:ext cx="106070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40" b="1" dirty="0">
                <a:solidFill>
                  <a:srgbClr val="3122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Unhas da</a:t>
            </a:r>
            <a:endParaRPr lang="en-US" sz="1040" dirty="0"/>
          </a:p>
        </p:txBody>
      </p:sp>
      <p:sp>
        <p:nvSpPr>
          <p:cNvPr id="42" name="Text 40"/>
          <p:cNvSpPr/>
          <p:nvPr/>
        </p:nvSpPr>
        <p:spPr>
          <a:xfrm>
            <a:off x="4315968" y="6263640"/>
            <a:ext cx="106070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40" b="1" dirty="0">
                <a:solidFill>
                  <a:srgbClr val="3122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semana</a:t>
            </a:r>
            <a:endParaRPr lang="en-US" sz="1040" dirty="0"/>
          </a:p>
        </p:txBody>
      </p:sp>
      <p:sp>
        <p:nvSpPr>
          <p:cNvPr id="43" name="Shape 41"/>
          <p:cNvSpPr/>
          <p:nvPr/>
        </p:nvSpPr>
        <p:spPr>
          <a:xfrm>
            <a:off x="4407408" y="6565392"/>
            <a:ext cx="877824" cy="274320"/>
          </a:xfrm>
          <a:prstGeom prst="roundRect">
            <a:avLst>
              <a:gd name="adj" fmla="val 26667"/>
            </a:avLst>
          </a:prstGeom>
          <a:solidFill>
            <a:srgbClr val="F08173"/>
          </a:solidFill>
          <a:ln w="12700">
            <a:solidFill>
              <a:srgbClr val="F0817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17136" y="6675120"/>
            <a:ext cx="658368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 horários</a:t>
            </a:r>
            <a:endParaRPr lang="en-US" sz="760" dirty="0"/>
          </a:p>
        </p:txBody>
      </p:sp>
      <p:sp>
        <p:nvSpPr>
          <p:cNvPr id="45" name="Shape 43"/>
          <p:cNvSpPr/>
          <p:nvPr/>
        </p:nvSpPr>
        <p:spPr>
          <a:xfrm>
            <a:off x="713232" y="7626096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9C5A4B"/>
          </a:solidFill>
          <a:ln w="12700">
            <a:solidFill>
              <a:srgbClr val="9C5A4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2960" y="7735824"/>
            <a:ext cx="453542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Pacote teste - primeira versão em até 24h após briefing</a:t>
            </a:r>
            <a:endParaRPr lang="en-US" sz="760" dirty="0"/>
          </a:p>
        </p:txBody>
      </p:sp>
      <p:sp>
        <p:nvSpPr>
          <p:cNvPr id="47" name="Text 45"/>
          <p:cNvSpPr/>
          <p:nvPr/>
        </p:nvSpPr>
        <p:spPr>
          <a:xfrm>
            <a:off x="713232" y="8165592"/>
            <a:ext cx="34747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2A21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Victor Takayama | Conteúdo Digital</a:t>
            </a:r>
            <a:endParaRPr lang="en-US" sz="980" dirty="0"/>
          </a:p>
        </p:txBody>
      </p:sp>
      <p:sp>
        <p:nvSpPr>
          <p:cNvPr id="48" name="Text 46"/>
          <p:cNvSpPr/>
          <p:nvPr/>
        </p:nvSpPr>
        <p:spPr>
          <a:xfrm>
            <a:off x="713232" y="8385048"/>
            <a:ext cx="26517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756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WhatsApp: (11) 95858-5228</a:t>
            </a:r>
            <a:endParaRPr lang="en-US" sz="930" dirty="0"/>
          </a:p>
        </p:txBody>
      </p:sp>
      <p:sp>
        <p:nvSpPr>
          <p:cNvPr id="49" name="Text 47"/>
          <p:cNvSpPr/>
          <p:nvPr/>
        </p:nvSpPr>
        <p:spPr>
          <a:xfrm>
            <a:off x="457200" y="8805672"/>
            <a:ext cx="192024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56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Victor Takayama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6565392" y="8805672"/>
            <a:ext cx="329184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56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02336"/>
            <a:ext cx="6492240" cy="0"/>
          </a:xfrm>
          <a:prstGeom prst="line">
            <a:avLst/>
          </a:prstGeom>
          <a:noFill/>
          <a:ln w="6985">
            <a:solidFill>
              <a:srgbClr val="D7C7B9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8741664"/>
            <a:ext cx="6492240" cy="0"/>
          </a:xfrm>
          <a:prstGeom prst="line">
            <a:avLst/>
          </a:prstGeom>
          <a:noFill/>
          <a:ln w="6985">
            <a:solidFill>
              <a:srgbClr val="D7C7B9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713232"/>
            <a:ext cx="36576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DIAGNÓSTICO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1051560"/>
            <a:ext cx="598932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700" b="1" dirty="0">
                <a:solidFill>
                  <a:srgbClr val="2A21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problema que eu resolvo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85216" y="1965960"/>
            <a:ext cx="58978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20" dirty="0">
                <a:solidFill>
                  <a:srgbClr val="756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serviço não é “fazer arte bonita”. É criar uma base de comunicação para o cliente olhar o perfil e entender o que você oferece.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658368" y="2816352"/>
            <a:ext cx="9144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58368" y="3127248"/>
            <a:ext cx="566928" cy="566928"/>
          </a:xfrm>
          <a:prstGeom prst="rect">
            <a:avLst/>
          </a:prstGeom>
          <a:solidFill>
            <a:srgbClr val="CFCFCF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16736" y="3127248"/>
            <a:ext cx="566928" cy="566928"/>
          </a:xfrm>
          <a:prstGeom prst="rect">
            <a:avLst/>
          </a:prstGeom>
          <a:solidFill>
            <a:srgbClr val="E5E5E5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75104" y="3127248"/>
            <a:ext cx="566928" cy="566928"/>
          </a:xfrm>
          <a:prstGeom prst="rect">
            <a:avLst/>
          </a:prstGeom>
          <a:solidFill>
            <a:srgbClr val="BDBDBD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3785616"/>
            <a:ext cx="566928" cy="566928"/>
          </a:xfrm>
          <a:prstGeom prst="rect">
            <a:avLst/>
          </a:prstGeom>
          <a:solidFill>
            <a:srgbClr val="222222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16736" y="3785616"/>
            <a:ext cx="566928" cy="566928"/>
          </a:xfrm>
          <a:prstGeom prst="rect">
            <a:avLst/>
          </a:prstGeom>
          <a:solidFill>
            <a:srgbClr val="CFCFCF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75104" y="3785616"/>
            <a:ext cx="566928" cy="566928"/>
          </a:xfrm>
          <a:prstGeom prst="rect">
            <a:avLst/>
          </a:prstGeom>
          <a:solidFill>
            <a:srgbClr val="E5E5E5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71800" y="3044952"/>
            <a:ext cx="228600" cy="228600"/>
          </a:xfrm>
          <a:prstGeom prst="ellipse">
            <a:avLst/>
          </a:prstGeom>
          <a:solidFill>
            <a:srgbClr val="9C5A4B"/>
          </a:solidFill>
          <a:ln w="12700">
            <a:solidFill>
              <a:srgbClr val="9C5A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22092" y="3113532"/>
            <a:ext cx="128016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630" dirty="0"/>
          </a:p>
        </p:txBody>
      </p:sp>
      <p:sp>
        <p:nvSpPr>
          <p:cNvPr id="16" name="Text 14"/>
          <p:cNvSpPr/>
          <p:nvPr/>
        </p:nvSpPr>
        <p:spPr>
          <a:xfrm>
            <a:off x="3319272" y="3017520"/>
            <a:ext cx="294436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10" dirty="0">
                <a:solidFill>
                  <a:srgbClr val="2A21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 sem padrão visual</a:t>
            </a:r>
            <a:endParaRPr lang="en-US" sz="1110" dirty="0"/>
          </a:p>
        </p:txBody>
      </p:sp>
      <p:sp>
        <p:nvSpPr>
          <p:cNvPr id="17" name="Shape 15"/>
          <p:cNvSpPr/>
          <p:nvPr/>
        </p:nvSpPr>
        <p:spPr>
          <a:xfrm>
            <a:off x="2971800" y="3483864"/>
            <a:ext cx="228600" cy="228600"/>
          </a:xfrm>
          <a:prstGeom prst="ellipse">
            <a:avLst/>
          </a:prstGeom>
          <a:solidFill>
            <a:srgbClr val="9C5A4B"/>
          </a:solidFill>
          <a:ln w="12700">
            <a:solidFill>
              <a:srgbClr val="9C5A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22092" y="3552444"/>
            <a:ext cx="128016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630" dirty="0"/>
          </a:p>
        </p:txBody>
      </p:sp>
      <p:sp>
        <p:nvSpPr>
          <p:cNvPr id="19" name="Text 17"/>
          <p:cNvSpPr/>
          <p:nvPr/>
        </p:nvSpPr>
        <p:spPr>
          <a:xfrm>
            <a:off x="3319272" y="3456432"/>
            <a:ext cx="294436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10" dirty="0">
                <a:solidFill>
                  <a:srgbClr val="2A21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Legenda sem chamada para conversa</a:t>
            </a:r>
            <a:endParaRPr lang="en-US" sz="1110" dirty="0"/>
          </a:p>
        </p:txBody>
      </p:sp>
      <p:sp>
        <p:nvSpPr>
          <p:cNvPr id="20" name="Shape 18"/>
          <p:cNvSpPr/>
          <p:nvPr/>
        </p:nvSpPr>
        <p:spPr>
          <a:xfrm>
            <a:off x="2971800" y="3922776"/>
            <a:ext cx="228600" cy="228600"/>
          </a:xfrm>
          <a:prstGeom prst="ellipse">
            <a:avLst/>
          </a:prstGeom>
          <a:solidFill>
            <a:srgbClr val="9C5A4B"/>
          </a:solidFill>
          <a:ln w="12700">
            <a:solidFill>
              <a:srgbClr val="9C5A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22092" y="3991356"/>
            <a:ext cx="128016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630" dirty="0"/>
          </a:p>
        </p:txBody>
      </p:sp>
      <p:sp>
        <p:nvSpPr>
          <p:cNvPr id="22" name="Text 20"/>
          <p:cNvSpPr/>
          <p:nvPr/>
        </p:nvSpPr>
        <p:spPr>
          <a:xfrm>
            <a:off x="3319272" y="3895344"/>
            <a:ext cx="294436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10" dirty="0">
                <a:solidFill>
                  <a:srgbClr val="2A21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Publicações soltas, sem sequência</a:t>
            </a:r>
            <a:endParaRPr lang="en-US" sz="1110" dirty="0"/>
          </a:p>
        </p:txBody>
      </p:sp>
      <p:sp>
        <p:nvSpPr>
          <p:cNvPr id="23" name="Shape 21"/>
          <p:cNvSpPr/>
          <p:nvPr/>
        </p:nvSpPr>
        <p:spPr>
          <a:xfrm>
            <a:off x="731520" y="4773168"/>
            <a:ext cx="5852160" cy="0"/>
          </a:xfrm>
          <a:prstGeom prst="line">
            <a:avLst/>
          </a:prstGeom>
          <a:noFill/>
          <a:ln w="10160">
            <a:solidFill>
              <a:srgbClr val="D7C7B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5266944"/>
            <a:ext cx="9144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667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DEPOIS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58368" y="5614416"/>
            <a:ext cx="1481328" cy="2359152"/>
          </a:xfrm>
          <a:prstGeom prst="roundRect">
            <a:avLst>
              <a:gd name="adj" fmla="val 9259"/>
            </a:avLst>
          </a:prstGeom>
          <a:solidFill>
            <a:srgbClr val="FFFDF8"/>
          </a:solidFill>
          <a:ln w="10160">
            <a:solidFill>
              <a:srgbClr val="CAB9A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5687568"/>
            <a:ext cx="1335024" cy="2212848"/>
          </a:xfrm>
          <a:prstGeom prst="roundRect">
            <a:avLst>
              <a:gd name="adj" fmla="val 8219"/>
            </a:avLst>
          </a:prstGeom>
          <a:solidFill>
            <a:srgbClr val="FFF8F1"/>
          </a:solidFill>
          <a:ln w="10160">
            <a:solidFill>
              <a:srgbClr val="FFF8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" y="5870448"/>
            <a:ext cx="111556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2A21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Aura Pele</a:t>
            </a:r>
            <a:endParaRPr lang="en-US" sz="730" dirty="0"/>
          </a:p>
        </p:txBody>
      </p:sp>
      <p:sp>
        <p:nvSpPr>
          <p:cNvPr id="28" name="Text 26"/>
          <p:cNvSpPr/>
          <p:nvPr/>
        </p:nvSpPr>
        <p:spPr>
          <a:xfrm>
            <a:off x="841248" y="6108192"/>
            <a:ext cx="1115568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80" dirty="0">
                <a:solidFill>
                  <a:srgbClr val="756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perfil ativo</a:t>
            </a:r>
            <a:endParaRPr lang="en-US" sz="580" dirty="0"/>
          </a:p>
        </p:txBody>
      </p:sp>
      <p:sp>
        <p:nvSpPr>
          <p:cNvPr id="29" name="Shape 27"/>
          <p:cNvSpPr/>
          <p:nvPr/>
        </p:nvSpPr>
        <p:spPr>
          <a:xfrm>
            <a:off x="877824" y="6419088"/>
            <a:ext cx="301752" cy="301752"/>
          </a:xfrm>
          <a:prstGeom prst="rect">
            <a:avLst/>
          </a:prstGeom>
          <a:solidFill>
            <a:srgbClr val="B3865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48156" y="6419088"/>
            <a:ext cx="301752" cy="301752"/>
          </a:xfrm>
          <a:prstGeom prst="rect">
            <a:avLst/>
          </a:prstGeom>
          <a:solidFill>
            <a:srgbClr val="EAD7C4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18488" y="6419088"/>
            <a:ext cx="301752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77824" y="6789420"/>
            <a:ext cx="301752" cy="301752"/>
          </a:xfrm>
          <a:prstGeom prst="rect">
            <a:avLst/>
          </a:prstGeom>
          <a:solidFill>
            <a:srgbClr val="DDB6A8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248156" y="6789420"/>
            <a:ext cx="301752" cy="301752"/>
          </a:xfrm>
          <a:prstGeom prst="rect">
            <a:avLst/>
          </a:prstGeom>
          <a:solidFill>
            <a:srgbClr val="B3865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618488" y="6789420"/>
            <a:ext cx="301752" cy="301752"/>
          </a:xfrm>
          <a:prstGeom prst="rect">
            <a:avLst/>
          </a:prstGeom>
          <a:solidFill>
            <a:srgbClr val="EAD7C4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7824" y="7159752"/>
            <a:ext cx="301752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248156" y="7159752"/>
            <a:ext cx="301752" cy="301752"/>
          </a:xfrm>
          <a:prstGeom prst="rect">
            <a:avLst/>
          </a:prstGeom>
          <a:solidFill>
            <a:srgbClr val="DDB6A8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618488" y="7159752"/>
            <a:ext cx="301752" cy="301752"/>
          </a:xfrm>
          <a:prstGeom prst="rect">
            <a:avLst/>
          </a:prstGeom>
          <a:solidFill>
            <a:srgbClr val="B3865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960" y="7607808"/>
            <a:ext cx="1152144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30" dirty="0">
                <a:solidFill>
                  <a:srgbClr val="756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 com padrão + CTA</a:t>
            </a:r>
            <a:endParaRPr lang="en-US" sz="530" dirty="0"/>
          </a:p>
        </p:txBody>
      </p:sp>
      <p:sp>
        <p:nvSpPr>
          <p:cNvPr id="39" name="Shape 37"/>
          <p:cNvSpPr/>
          <p:nvPr/>
        </p:nvSpPr>
        <p:spPr>
          <a:xfrm>
            <a:off x="2971800" y="5696712"/>
            <a:ext cx="228600" cy="228600"/>
          </a:xfrm>
          <a:prstGeom prst="ellipse">
            <a:avLst/>
          </a:prstGeom>
          <a:solidFill>
            <a:srgbClr val="66725F"/>
          </a:solidFill>
          <a:ln w="12700">
            <a:solidFill>
              <a:srgbClr val="6672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22092" y="5765292"/>
            <a:ext cx="128016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630" dirty="0"/>
          </a:p>
        </p:txBody>
      </p:sp>
      <p:sp>
        <p:nvSpPr>
          <p:cNvPr id="41" name="Text 39"/>
          <p:cNvSpPr/>
          <p:nvPr/>
        </p:nvSpPr>
        <p:spPr>
          <a:xfrm>
            <a:off x="3319272" y="5669280"/>
            <a:ext cx="321868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10" dirty="0">
                <a:solidFill>
                  <a:srgbClr val="2A21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Identidade consistente e mais confiável</a:t>
            </a:r>
            <a:endParaRPr lang="en-US" sz="1110" dirty="0"/>
          </a:p>
        </p:txBody>
      </p:sp>
      <p:sp>
        <p:nvSpPr>
          <p:cNvPr id="42" name="Shape 40"/>
          <p:cNvSpPr/>
          <p:nvPr/>
        </p:nvSpPr>
        <p:spPr>
          <a:xfrm>
            <a:off x="2971800" y="6153912"/>
            <a:ext cx="228600" cy="228600"/>
          </a:xfrm>
          <a:prstGeom prst="ellipse">
            <a:avLst/>
          </a:prstGeom>
          <a:solidFill>
            <a:srgbClr val="66725F"/>
          </a:solidFill>
          <a:ln w="12700">
            <a:solidFill>
              <a:srgbClr val="6672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022092" y="6222492"/>
            <a:ext cx="128016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630" dirty="0"/>
          </a:p>
        </p:txBody>
      </p:sp>
      <p:sp>
        <p:nvSpPr>
          <p:cNvPr id="44" name="Text 42"/>
          <p:cNvSpPr/>
          <p:nvPr/>
        </p:nvSpPr>
        <p:spPr>
          <a:xfrm>
            <a:off x="3319272" y="6126480"/>
            <a:ext cx="321868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10" dirty="0">
                <a:solidFill>
                  <a:srgbClr val="2A21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Conteúdo educativo, comercial e institucional</a:t>
            </a:r>
            <a:endParaRPr lang="en-US" sz="1110" dirty="0"/>
          </a:p>
        </p:txBody>
      </p:sp>
      <p:sp>
        <p:nvSpPr>
          <p:cNvPr id="45" name="Shape 43"/>
          <p:cNvSpPr/>
          <p:nvPr/>
        </p:nvSpPr>
        <p:spPr>
          <a:xfrm>
            <a:off x="2971800" y="6611112"/>
            <a:ext cx="228600" cy="228600"/>
          </a:xfrm>
          <a:prstGeom prst="ellipse">
            <a:avLst/>
          </a:prstGeom>
          <a:solidFill>
            <a:srgbClr val="66725F"/>
          </a:solidFill>
          <a:ln w="12700">
            <a:solidFill>
              <a:srgbClr val="6672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022092" y="6679692"/>
            <a:ext cx="128016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630" dirty="0"/>
          </a:p>
        </p:txBody>
      </p:sp>
      <p:sp>
        <p:nvSpPr>
          <p:cNvPr id="47" name="Text 45"/>
          <p:cNvSpPr/>
          <p:nvPr/>
        </p:nvSpPr>
        <p:spPr>
          <a:xfrm>
            <a:off x="3319272" y="6583680"/>
            <a:ext cx="321868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10" dirty="0">
                <a:solidFill>
                  <a:srgbClr val="2A21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Calendário pronto para manter o perfil em movimento</a:t>
            </a:r>
            <a:endParaRPr lang="en-US" sz="1110" dirty="0"/>
          </a:p>
        </p:txBody>
      </p:sp>
      <p:sp>
        <p:nvSpPr>
          <p:cNvPr id="48" name="Text 46"/>
          <p:cNvSpPr/>
          <p:nvPr/>
        </p:nvSpPr>
        <p:spPr>
          <a:xfrm>
            <a:off x="713232" y="8119872"/>
            <a:ext cx="58064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A21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 prometer resultado mágico: a entrega aumenta clareza, presença e profissionalismo.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57200" y="8805672"/>
            <a:ext cx="192024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56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Victor Takayama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6565392" y="8805672"/>
            <a:ext cx="329184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56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02336"/>
            <a:ext cx="6492240" cy="0"/>
          </a:xfrm>
          <a:prstGeom prst="line">
            <a:avLst/>
          </a:prstGeom>
          <a:noFill/>
          <a:ln w="6985">
            <a:solidFill>
              <a:srgbClr val="D7C7B9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8741664"/>
            <a:ext cx="6492240" cy="0"/>
          </a:xfrm>
          <a:prstGeom prst="line">
            <a:avLst/>
          </a:prstGeom>
          <a:noFill/>
          <a:ln w="6985">
            <a:solidFill>
              <a:srgbClr val="D7C7B9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713232"/>
            <a:ext cx="36576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OFERTA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1051560"/>
            <a:ext cx="598932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700" b="1" dirty="0">
                <a:solidFill>
                  <a:srgbClr val="2A21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Pacote Conteúdo Express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85216" y="1965960"/>
            <a:ext cx="58978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20" dirty="0">
                <a:solidFill>
                  <a:srgbClr val="756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Uma entrega objetiva para profissionais de beleza que precisam publicar com consistência sem perder horas criando do zero.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658368" y="2880360"/>
            <a:ext cx="5989320" cy="530352"/>
          </a:xfrm>
          <a:prstGeom prst="roundRect">
            <a:avLst>
              <a:gd name="adj" fmla="val 10345"/>
            </a:avLst>
          </a:prstGeom>
          <a:solidFill>
            <a:srgbClr val="FFFDF8"/>
          </a:solidFill>
          <a:ln w="10160">
            <a:solidFill>
              <a:srgbClr val="FFF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044952"/>
            <a:ext cx="32004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325880" y="2990088"/>
            <a:ext cx="21488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80" b="1" dirty="0">
                <a:solidFill>
                  <a:srgbClr val="2A21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artes para Instagram</a:t>
            </a:r>
            <a:endParaRPr lang="en-US" sz="1180" dirty="0"/>
          </a:p>
        </p:txBody>
      </p:sp>
      <p:sp>
        <p:nvSpPr>
          <p:cNvPr id="10" name="Text 8"/>
          <p:cNvSpPr/>
          <p:nvPr/>
        </p:nvSpPr>
        <p:spPr>
          <a:xfrm>
            <a:off x="3611880" y="2990088"/>
            <a:ext cx="24231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756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Feed, carrossel ou chamada de agenda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658368" y="3593592"/>
            <a:ext cx="5989320" cy="530352"/>
          </a:xfrm>
          <a:prstGeom prst="roundRect">
            <a:avLst>
              <a:gd name="adj" fmla="val 10345"/>
            </a:avLst>
          </a:prstGeom>
          <a:solidFill>
            <a:srgbClr val="E9DDD2"/>
          </a:solidFill>
          <a:ln w="10160">
            <a:solidFill>
              <a:srgbClr val="E9DD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758184"/>
            <a:ext cx="32004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325880" y="3703320"/>
            <a:ext cx="21488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80" b="1" dirty="0">
                <a:solidFill>
                  <a:srgbClr val="2A21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legendas prontas</a:t>
            </a:r>
            <a:endParaRPr lang="en-US" sz="1180" dirty="0"/>
          </a:p>
        </p:txBody>
      </p:sp>
      <p:sp>
        <p:nvSpPr>
          <p:cNvPr id="14" name="Text 12"/>
          <p:cNvSpPr/>
          <p:nvPr/>
        </p:nvSpPr>
        <p:spPr>
          <a:xfrm>
            <a:off x="3611880" y="3703320"/>
            <a:ext cx="24231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756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Textos adaptados aos serviços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658368" y="4306824"/>
            <a:ext cx="5989320" cy="530352"/>
          </a:xfrm>
          <a:prstGeom prst="roundRect">
            <a:avLst>
              <a:gd name="adj" fmla="val 10345"/>
            </a:avLst>
          </a:prstGeom>
          <a:solidFill>
            <a:srgbClr val="FFFDF8"/>
          </a:solidFill>
          <a:ln w="10160">
            <a:solidFill>
              <a:srgbClr val="FFF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471416"/>
            <a:ext cx="32004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325880" y="4416552"/>
            <a:ext cx="21488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80" b="1" dirty="0">
                <a:solidFill>
                  <a:srgbClr val="2A21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roteiros de Reels</a:t>
            </a:r>
            <a:endParaRPr lang="en-US" sz="1180" dirty="0"/>
          </a:p>
        </p:txBody>
      </p:sp>
      <p:sp>
        <p:nvSpPr>
          <p:cNvPr id="18" name="Text 16"/>
          <p:cNvSpPr/>
          <p:nvPr/>
        </p:nvSpPr>
        <p:spPr>
          <a:xfrm>
            <a:off x="3611880" y="4416552"/>
            <a:ext cx="24231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756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Ideias com gancho e chamada final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658368" y="5020056"/>
            <a:ext cx="5989320" cy="530352"/>
          </a:xfrm>
          <a:prstGeom prst="roundRect">
            <a:avLst>
              <a:gd name="adj" fmla="val 10345"/>
            </a:avLst>
          </a:prstGeom>
          <a:solidFill>
            <a:srgbClr val="E9DDD2"/>
          </a:solidFill>
          <a:ln w="10160">
            <a:solidFill>
              <a:srgbClr val="E9DD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5184648"/>
            <a:ext cx="32004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325880" y="5129784"/>
            <a:ext cx="21488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80" b="1" dirty="0">
                <a:solidFill>
                  <a:srgbClr val="2A21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Calendário de 7 dias</a:t>
            </a:r>
            <a:endParaRPr lang="en-US" sz="1180" dirty="0"/>
          </a:p>
        </p:txBody>
      </p:sp>
      <p:sp>
        <p:nvSpPr>
          <p:cNvPr id="22" name="Text 20"/>
          <p:cNvSpPr/>
          <p:nvPr/>
        </p:nvSpPr>
        <p:spPr>
          <a:xfrm>
            <a:off x="3611880" y="5129784"/>
            <a:ext cx="24231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756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Sequência com função clara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658368" y="6144768"/>
            <a:ext cx="5989320" cy="1234440"/>
          </a:xfrm>
          <a:prstGeom prst="roundRect">
            <a:avLst>
              <a:gd name="adj" fmla="val 6667"/>
            </a:avLst>
          </a:prstGeom>
          <a:solidFill>
            <a:srgbClr val="2D231F"/>
          </a:solidFill>
          <a:ln w="10160">
            <a:solidFill>
              <a:srgbClr val="2D231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6464808"/>
            <a:ext cx="12801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R$ 147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2395728" y="6400800"/>
            <a:ext cx="141732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40" dirty="0">
                <a:solidFill>
                  <a:srgbClr val="E9DC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50% para iniciar</a:t>
            </a:r>
            <a:endParaRPr lang="en-US" sz="104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40" dirty="0">
                <a:solidFill>
                  <a:srgbClr val="E9DC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50% na entrega</a:t>
            </a:r>
            <a:endParaRPr lang="en-US" sz="1040" dirty="0"/>
          </a:p>
        </p:txBody>
      </p:sp>
      <p:sp>
        <p:nvSpPr>
          <p:cNvPr id="26" name="Shape 24"/>
          <p:cNvSpPr/>
          <p:nvPr/>
        </p:nvSpPr>
        <p:spPr>
          <a:xfrm>
            <a:off x="4315968" y="6711696"/>
            <a:ext cx="1060704" cy="0"/>
          </a:xfrm>
          <a:prstGeom prst="line">
            <a:avLst/>
          </a:prstGeom>
          <a:noFill/>
          <a:ln w="11430">
            <a:solidFill>
              <a:srgbClr val="B3865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15968" y="6382512"/>
            <a:ext cx="17830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1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Primeira versão em até 24h</a:t>
            </a:r>
            <a:endParaRPr lang="en-US" sz="101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1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após briefing completo.</a:t>
            </a:r>
            <a:endParaRPr lang="en-US" sz="1010" dirty="0"/>
          </a:p>
        </p:txBody>
      </p:sp>
      <p:sp>
        <p:nvSpPr>
          <p:cNvPr id="28" name="Text 26"/>
          <p:cNvSpPr/>
          <p:nvPr/>
        </p:nvSpPr>
        <p:spPr>
          <a:xfrm>
            <a:off x="987552" y="7735824"/>
            <a:ext cx="53035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40" dirty="0">
                <a:solidFill>
                  <a:srgbClr val="756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Inclui uma rodada de ajustes e arquivos editáveis no Canva.</a:t>
            </a:r>
            <a:endParaRPr lang="en-US" sz="1140" dirty="0"/>
          </a:p>
        </p:txBody>
      </p:sp>
      <p:sp>
        <p:nvSpPr>
          <p:cNvPr id="29" name="Text 27"/>
          <p:cNvSpPr/>
          <p:nvPr/>
        </p:nvSpPr>
        <p:spPr>
          <a:xfrm>
            <a:off x="457200" y="8805672"/>
            <a:ext cx="192024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56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Victor Takayama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6565392" y="8805672"/>
            <a:ext cx="329184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56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02336"/>
            <a:ext cx="6492240" cy="0"/>
          </a:xfrm>
          <a:prstGeom prst="line">
            <a:avLst/>
          </a:prstGeom>
          <a:noFill/>
          <a:ln w="6985">
            <a:solidFill>
              <a:srgbClr val="D7C7B9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8741664"/>
            <a:ext cx="6492240" cy="0"/>
          </a:xfrm>
          <a:prstGeom prst="line">
            <a:avLst/>
          </a:prstGeom>
          <a:noFill/>
          <a:ln w="6985">
            <a:solidFill>
              <a:srgbClr val="D7C7B9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713232"/>
            <a:ext cx="36576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PROJETO FICTÍCIO 01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1051560"/>
            <a:ext cx="598932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700" b="1" dirty="0">
                <a:solidFill>
                  <a:srgbClr val="2A21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Clínica Aura Pele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85216" y="1965960"/>
            <a:ext cx="58978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20" dirty="0">
                <a:solidFill>
                  <a:srgbClr val="756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Estilo: sofisticado, calmo e confiável. Ideal para estética facial, limpeza de pele e tratamentos de autocuidado.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640080" y="2761488"/>
            <a:ext cx="1664208" cy="1664208"/>
          </a:xfrm>
          <a:prstGeom prst="roundRect">
            <a:avLst>
              <a:gd name="adj" fmla="val 4396"/>
            </a:avLst>
          </a:prstGeom>
          <a:solidFill>
            <a:srgbClr val="F8F0E8"/>
          </a:solidFill>
          <a:ln w="10160">
            <a:solidFill>
              <a:srgbClr val="E2CE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2926080"/>
            <a:ext cx="1335024" cy="1335024"/>
          </a:xfrm>
          <a:prstGeom prst="rect">
            <a:avLst/>
          </a:prstGeom>
          <a:solidFill>
            <a:srgbClr val="FFF8F1"/>
          </a:solidFill>
          <a:ln w="12700">
            <a:solidFill>
              <a:srgbClr val="FFF8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081528"/>
            <a:ext cx="111556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70" b="1" dirty="0">
                <a:solidFill>
                  <a:srgbClr val="B38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AURA PELE</a:t>
            </a:r>
            <a:endParaRPr lang="en-US" sz="570" dirty="0"/>
          </a:p>
        </p:txBody>
      </p:sp>
      <p:sp>
        <p:nvSpPr>
          <p:cNvPr id="10" name="Shape 8"/>
          <p:cNvSpPr/>
          <p:nvPr/>
        </p:nvSpPr>
        <p:spPr>
          <a:xfrm>
            <a:off x="987552" y="3364992"/>
            <a:ext cx="969264" cy="0"/>
          </a:xfrm>
          <a:prstGeom prst="line">
            <a:avLst/>
          </a:prstGeom>
          <a:noFill/>
          <a:ln w="8890">
            <a:solidFill>
              <a:srgbClr val="B386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547872"/>
            <a:ext cx="115214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2D23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Pele cuidada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896112" y="3767328"/>
            <a:ext cx="115214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2D23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 excesso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914400" y="4133088"/>
            <a:ext cx="111556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D23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avaliação aberta</a:t>
            </a:r>
            <a:endParaRPr lang="en-US" sz="550" dirty="0"/>
          </a:p>
        </p:txBody>
      </p:sp>
      <p:sp>
        <p:nvSpPr>
          <p:cNvPr id="14" name="Shape 12"/>
          <p:cNvSpPr/>
          <p:nvPr/>
        </p:nvSpPr>
        <p:spPr>
          <a:xfrm>
            <a:off x="2761488" y="2761488"/>
            <a:ext cx="1664208" cy="1664208"/>
          </a:xfrm>
          <a:prstGeom prst="roundRect">
            <a:avLst>
              <a:gd name="adj" fmla="val 4396"/>
            </a:avLst>
          </a:prstGeom>
          <a:solidFill>
            <a:srgbClr val="F8F0E8"/>
          </a:solidFill>
          <a:ln w="10160">
            <a:solidFill>
              <a:srgbClr val="E2CEC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6080" y="2926080"/>
            <a:ext cx="1335024" cy="1335024"/>
          </a:xfrm>
          <a:prstGeom prst="rect">
            <a:avLst/>
          </a:prstGeom>
          <a:solidFill>
            <a:srgbClr val="FFF8F1"/>
          </a:solidFill>
          <a:ln w="12700">
            <a:solidFill>
              <a:srgbClr val="FFF8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35808" y="3081528"/>
            <a:ext cx="111556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70" b="1" dirty="0">
                <a:solidFill>
                  <a:srgbClr val="B38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ROTINA FACIAL</a:t>
            </a:r>
            <a:endParaRPr lang="en-US" sz="570" dirty="0"/>
          </a:p>
        </p:txBody>
      </p:sp>
      <p:sp>
        <p:nvSpPr>
          <p:cNvPr id="17" name="Shape 15"/>
          <p:cNvSpPr/>
          <p:nvPr/>
        </p:nvSpPr>
        <p:spPr>
          <a:xfrm>
            <a:off x="3108960" y="3364992"/>
            <a:ext cx="969264" cy="0"/>
          </a:xfrm>
          <a:prstGeom prst="line">
            <a:avLst/>
          </a:prstGeom>
          <a:noFill/>
          <a:ln w="8890">
            <a:solidFill>
              <a:srgbClr val="B386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17520" y="3547872"/>
            <a:ext cx="115214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2D23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 sinais de que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3017520" y="3703320"/>
            <a:ext cx="115214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2D23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sua pele pede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3017520" y="3858768"/>
            <a:ext cx="115214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2D23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atenção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3035808" y="4133088"/>
            <a:ext cx="111556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D23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salve este post</a:t>
            </a:r>
            <a:endParaRPr lang="en-US" sz="550" dirty="0"/>
          </a:p>
        </p:txBody>
      </p:sp>
      <p:sp>
        <p:nvSpPr>
          <p:cNvPr id="22" name="Shape 20"/>
          <p:cNvSpPr/>
          <p:nvPr/>
        </p:nvSpPr>
        <p:spPr>
          <a:xfrm>
            <a:off x="4882896" y="2761488"/>
            <a:ext cx="1664208" cy="1664208"/>
          </a:xfrm>
          <a:prstGeom prst="roundRect">
            <a:avLst>
              <a:gd name="adj" fmla="val 4396"/>
            </a:avLst>
          </a:prstGeom>
          <a:solidFill>
            <a:srgbClr val="F8F0E8"/>
          </a:solidFill>
          <a:ln w="10160">
            <a:solidFill>
              <a:srgbClr val="E2CEC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47488" y="2926080"/>
            <a:ext cx="1335024" cy="1335024"/>
          </a:xfrm>
          <a:prstGeom prst="rect">
            <a:avLst/>
          </a:prstGeom>
          <a:solidFill>
            <a:srgbClr val="FFF8F1"/>
          </a:solidFill>
          <a:ln w="12700">
            <a:solidFill>
              <a:srgbClr val="FFF8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57216" y="3081528"/>
            <a:ext cx="111556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70" b="1" dirty="0">
                <a:solidFill>
                  <a:srgbClr val="B38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ATENDIMENTOS</a:t>
            </a:r>
            <a:endParaRPr lang="en-US" sz="570" dirty="0"/>
          </a:p>
        </p:txBody>
      </p:sp>
      <p:sp>
        <p:nvSpPr>
          <p:cNvPr id="25" name="Shape 23"/>
          <p:cNvSpPr/>
          <p:nvPr/>
        </p:nvSpPr>
        <p:spPr>
          <a:xfrm>
            <a:off x="5230368" y="3364992"/>
            <a:ext cx="969264" cy="0"/>
          </a:xfrm>
          <a:prstGeom prst="line">
            <a:avLst/>
          </a:prstGeom>
          <a:noFill/>
          <a:ln w="8890">
            <a:solidFill>
              <a:srgbClr val="B3865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38928" y="3547872"/>
            <a:ext cx="115214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2D23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Agenda da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5138928" y="3767328"/>
            <a:ext cx="115214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2D23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semana aberta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5157216" y="4133088"/>
            <a:ext cx="111556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D23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chame no WhatsApp</a:t>
            </a:r>
            <a:endParaRPr lang="en-US" sz="550" dirty="0"/>
          </a:p>
        </p:txBody>
      </p:sp>
      <p:sp>
        <p:nvSpPr>
          <p:cNvPr id="29" name="Shape 27"/>
          <p:cNvSpPr/>
          <p:nvPr/>
        </p:nvSpPr>
        <p:spPr>
          <a:xfrm>
            <a:off x="658368" y="4983480"/>
            <a:ext cx="5989320" cy="2331720"/>
          </a:xfrm>
          <a:prstGeom prst="roundRect">
            <a:avLst>
              <a:gd name="adj" fmla="val 3137"/>
            </a:avLst>
          </a:prstGeom>
          <a:solidFill>
            <a:srgbClr val="FFFDF8"/>
          </a:solidFill>
          <a:ln w="10160">
            <a:solidFill>
              <a:srgbClr val="D7C7B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" y="5285232"/>
            <a:ext cx="15544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B38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Carrossel educativo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960120" y="5623560"/>
            <a:ext cx="45720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2A21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Limpeza de pele: quando faz sentido?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960120" y="6327648"/>
            <a:ext cx="11887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Legenda pronta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960120" y="6629400"/>
            <a:ext cx="532180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56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Nem toda pele precisa de uma rotina complicada. Às vezes, o primeiro passo é entender o que deixa a pele opaca, sensível ou irregular. Uma avaliação ajuda a escolher cuidados com mais segurança.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8805672"/>
            <a:ext cx="192024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56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Victor Takayama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6565392" y="8805672"/>
            <a:ext cx="329184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56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02336"/>
            <a:ext cx="6492240" cy="0"/>
          </a:xfrm>
          <a:prstGeom prst="line">
            <a:avLst/>
          </a:prstGeom>
          <a:noFill/>
          <a:ln w="6985">
            <a:solidFill>
              <a:srgbClr val="D7C7B9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8741664"/>
            <a:ext cx="6492240" cy="0"/>
          </a:xfrm>
          <a:prstGeom prst="line">
            <a:avLst/>
          </a:prstGeom>
          <a:noFill/>
          <a:ln w="6985">
            <a:solidFill>
              <a:srgbClr val="D7C7B9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713232"/>
            <a:ext cx="36576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PROJETO FICTÍCIO 02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1051560"/>
            <a:ext cx="598932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700" b="1" dirty="0">
                <a:solidFill>
                  <a:srgbClr val="2A21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Luna Nails Studio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85216" y="1965960"/>
            <a:ext cx="58978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20" dirty="0">
                <a:solidFill>
                  <a:srgbClr val="756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Estilo: jovem, colorido e comercial. Bom para manicure, nail designer e serviços com alta recorrência.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658368" y="2816352"/>
            <a:ext cx="1737360" cy="3063240"/>
          </a:xfrm>
          <a:prstGeom prst="roundRect">
            <a:avLst>
              <a:gd name="adj" fmla="val 7895"/>
            </a:avLst>
          </a:prstGeom>
          <a:solidFill>
            <a:srgbClr val="FFFDF8"/>
          </a:solidFill>
          <a:ln w="10160">
            <a:solidFill>
              <a:srgbClr val="CAB9A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889504"/>
            <a:ext cx="1591056" cy="2916936"/>
          </a:xfrm>
          <a:prstGeom prst="roundRect">
            <a:avLst>
              <a:gd name="adj" fmla="val 6897"/>
            </a:avLst>
          </a:prstGeom>
          <a:solidFill>
            <a:srgbClr val="FFF8F1"/>
          </a:solidFill>
          <a:ln w="10160">
            <a:solidFill>
              <a:srgbClr val="FFF8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3072384"/>
            <a:ext cx="13716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2A21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Luna Nails</a:t>
            </a:r>
            <a:endParaRPr lang="en-US" sz="730" dirty="0"/>
          </a:p>
        </p:txBody>
      </p:sp>
      <p:sp>
        <p:nvSpPr>
          <p:cNvPr id="10" name="Text 8"/>
          <p:cNvSpPr/>
          <p:nvPr/>
        </p:nvSpPr>
        <p:spPr>
          <a:xfrm>
            <a:off x="841248" y="3310128"/>
            <a:ext cx="137160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80" dirty="0">
                <a:solidFill>
                  <a:srgbClr val="756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unhas e nail art</a:t>
            </a:r>
            <a:endParaRPr lang="en-US" sz="580" dirty="0"/>
          </a:p>
        </p:txBody>
      </p:sp>
      <p:sp>
        <p:nvSpPr>
          <p:cNvPr id="11" name="Shape 9"/>
          <p:cNvSpPr/>
          <p:nvPr/>
        </p:nvSpPr>
        <p:spPr>
          <a:xfrm>
            <a:off x="877824" y="3621024"/>
            <a:ext cx="387096" cy="387096"/>
          </a:xfrm>
          <a:prstGeom prst="rect">
            <a:avLst/>
          </a:prstGeom>
          <a:solidFill>
            <a:srgbClr val="F08173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33500" y="3621024"/>
            <a:ext cx="387096" cy="387096"/>
          </a:xfrm>
          <a:prstGeom prst="rect">
            <a:avLst/>
          </a:prstGeom>
          <a:solidFill>
            <a:srgbClr val="A5D9C7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89176" y="3621024"/>
            <a:ext cx="387096" cy="387096"/>
          </a:xfrm>
          <a:prstGeom prst="rect">
            <a:avLst/>
          </a:prstGeom>
          <a:solidFill>
            <a:srgbClr val="F3D579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" y="4076700"/>
            <a:ext cx="387096" cy="387096"/>
          </a:xfrm>
          <a:prstGeom prst="rect">
            <a:avLst/>
          </a:prstGeom>
          <a:solidFill>
            <a:srgbClr val="D3BEE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33500" y="4076700"/>
            <a:ext cx="387096" cy="387096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89176" y="4076700"/>
            <a:ext cx="387096" cy="387096"/>
          </a:xfrm>
          <a:prstGeom prst="rect">
            <a:avLst/>
          </a:prstGeom>
          <a:solidFill>
            <a:srgbClr val="F08173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7824" y="4532376"/>
            <a:ext cx="387096" cy="387096"/>
          </a:xfrm>
          <a:prstGeom prst="rect">
            <a:avLst/>
          </a:prstGeom>
          <a:solidFill>
            <a:srgbClr val="A5D9C7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33500" y="4532376"/>
            <a:ext cx="387096" cy="387096"/>
          </a:xfrm>
          <a:prstGeom prst="rect">
            <a:avLst/>
          </a:prstGeom>
          <a:solidFill>
            <a:srgbClr val="F3D579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89176" y="4532376"/>
            <a:ext cx="387096" cy="387096"/>
          </a:xfrm>
          <a:prstGeom prst="rect">
            <a:avLst/>
          </a:prstGeom>
          <a:solidFill>
            <a:srgbClr val="D3BEE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513832"/>
            <a:ext cx="1408176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30" dirty="0">
                <a:solidFill>
                  <a:srgbClr val="756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 com padrão + CTA</a:t>
            </a:r>
            <a:endParaRPr lang="en-US" sz="530" dirty="0"/>
          </a:p>
        </p:txBody>
      </p:sp>
      <p:sp>
        <p:nvSpPr>
          <p:cNvPr id="21" name="Shape 19"/>
          <p:cNvSpPr/>
          <p:nvPr/>
        </p:nvSpPr>
        <p:spPr>
          <a:xfrm>
            <a:off x="2761488" y="2816352"/>
            <a:ext cx="1627632" cy="1627632"/>
          </a:xfrm>
          <a:prstGeom prst="roundRect">
            <a:avLst>
              <a:gd name="adj" fmla="val 4494"/>
            </a:avLst>
          </a:prstGeom>
          <a:solidFill>
            <a:srgbClr val="FFF4F7"/>
          </a:solidFill>
          <a:ln w="10160">
            <a:solidFill>
              <a:srgbClr val="F1C9D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59936" y="2907792"/>
            <a:ext cx="201168" cy="201168"/>
          </a:xfrm>
          <a:prstGeom prst="ellipse">
            <a:avLst/>
          </a:prstGeom>
          <a:solidFill>
            <a:srgbClr val="A5D9C7"/>
          </a:solidFill>
          <a:ln w="12700">
            <a:solidFill>
              <a:srgbClr val="A5D9C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1216" y="4133088"/>
            <a:ext cx="182880" cy="182880"/>
          </a:xfrm>
          <a:prstGeom prst="ellipse">
            <a:avLst/>
          </a:prstGeom>
          <a:solidFill>
            <a:srgbClr val="F3D579"/>
          </a:solidFill>
          <a:ln w="12700">
            <a:solidFill>
              <a:srgbClr val="F3D57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17520" y="3136392"/>
            <a:ext cx="1115568" cy="91440"/>
          </a:xfrm>
          <a:prstGeom prst="rect">
            <a:avLst/>
          </a:prstGeom>
          <a:solidFill>
            <a:srgbClr val="F08173"/>
          </a:solidFill>
          <a:ln w="12700">
            <a:solidFill>
              <a:srgbClr val="F0817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17520" y="3383280"/>
            <a:ext cx="1115568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70" b="1" dirty="0">
                <a:solidFill>
                  <a:srgbClr val="F08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INSPO DA SEMANA</a:t>
            </a:r>
            <a:endParaRPr lang="en-US" sz="570" dirty="0"/>
          </a:p>
        </p:txBody>
      </p:sp>
      <p:sp>
        <p:nvSpPr>
          <p:cNvPr id="26" name="Text 24"/>
          <p:cNvSpPr/>
          <p:nvPr/>
        </p:nvSpPr>
        <p:spPr>
          <a:xfrm>
            <a:off x="3035808" y="3584448"/>
            <a:ext cx="1078992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40" b="1" dirty="0">
                <a:solidFill>
                  <a:srgbClr val="3122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 ideias para</a:t>
            </a:r>
            <a:endParaRPr lang="en-US" sz="1040" dirty="0"/>
          </a:p>
        </p:txBody>
      </p:sp>
      <p:sp>
        <p:nvSpPr>
          <p:cNvPr id="27" name="Text 25"/>
          <p:cNvSpPr/>
          <p:nvPr/>
        </p:nvSpPr>
        <p:spPr>
          <a:xfrm>
            <a:off x="3035808" y="3794760"/>
            <a:ext cx="1078992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40" b="1" dirty="0">
                <a:solidFill>
                  <a:srgbClr val="3122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unhas delicadas</a:t>
            </a:r>
            <a:endParaRPr lang="en-US" sz="1040" dirty="0"/>
          </a:p>
        </p:txBody>
      </p:sp>
      <p:sp>
        <p:nvSpPr>
          <p:cNvPr id="28" name="Shape 26"/>
          <p:cNvSpPr/>
          <p:nvPr/>
        </p:nvSpPr>
        <p:spPr>
          <a:xfrm>
            <a:off x="3127248" y="4114800"/>
            <a:ext cx="896112" cy="274320"/>
          </a:xfrm>
          <a:prstGeom prst="roundRect">
            <a:avLst>
              <a:gd name="adj" fmla="val 26667"/>
            </a:avLst>
          </a:prstGeom>
          <a:solidFill>
            <a:srgbClr val="F08173"/>
          </a:solidFill>
          <a:ln w="12700">
            <a:solidFill>
              <a:srgbClr val="F0817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36976" y="4224528"/>
            <a:ext cx="676656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salvar ideias</a:t>
            </a:r>
            <a:endParaRPr lang="en-US" sz="760" dirty="0"/>
          </a:p>
        </p:txBody>
      </p:sp>
      <p:sp>
        <p:nvSpPr>
          <p:cNvPr id="30" name="Shape 28"/>
          <p:cNvSpPr/>
          <p:nvPr/>
        </p:nvSpPr>
        <p:spPr>
          <a:xfrm>
            <a:off x="4663440" y="2816352"/>
            <a:ext cx="1627632" cy="1627632"/>
          </a:xfrm>
          <a:prstGeom prst="roundRect">
            <a:avLst>
              <a:gd name="adj" fmla="val 4494"/>
            </a:avLst>
          </a:prstGeom>
          <a:solidFill>
            <a:srgbClr val="FFF4F7"/>
          </a:solidFill>
          <a:ln w="10160">
            <a:solidFill>
              <a:srgbClr val="F1C9D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61888" y="2907792"/>
            <a:ext cx="201168" cy="201168"/>
          </a:xfrm>
          <a:prstGeom prst="ellipse">
            <a:avLst/>
          </a:prstGeom>
          <a:solidFill>
            <a:srgbClr val="A5D9C7"/>
          </a:solidFill>
          <a:ln w="12700">
            <a:solidFill>
              <a:srgbClr val="A5D9C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73168" y="4133088"/>
            <a:ext cx="182880" cy="182880"/>
          </a:xfrm>
          <a:prstGeom prst="ellipse">
            <a:avLst/>
          </a:prstGeom>
          <a:solidFill>
            <a:srgbClr val="F3D579"/>
          </a:solidFill>
          <a:ln w="12700">
            <a:solidFill>
              <a:srgbClr val="F3D57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19472" y="3136392"/>
            <a:ext cx="1115568" cy="91440"/>
          </a:xfrm>
          <a:prstGeom prst="rect">
            <a:avLst/>
          </a:prstGeom>
          <a:solidFill>
            <a:srgbClr val="F08173"/>
          </a:solidFill>
          <a:ln w="12700">
            <a:solidFill>
              <a:srgbClr val="F0817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9472" y="3383280"/>
            <a:ext cx="1115568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70" b="1" dirty="0">
                <a:solidFill>
                  <a:srgbClr val="F08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 EXPRESS</a:t>
            </a:r>
            <a:endParaRPr lang="en-US" sz="570" dirty="0"/>
          </a:p>
        </p:txBody>
      </p:sp>
      <p:sp>
        <p:nvSpPr>
          <p:cNvPr id="35" name="Text 33"/>
          <p:cNvSpPr/>
          <p:nvPr/>
        </p:nvSpPr>
        <p:spPr>
          <a:xfrm>
            <a:off x="4937760" y="3584448"/>
            <a:ext cx="1078992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40" b="1" dirty="0">
                <a:solidFill>
                  <a:srgbClr val="3122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Horários livres</a:t>
            </a:r>
            <a:endParaRPr lang="en-US" sz="1040" dirty="0"/>
          </a:p>
        </p:txBody>
      </p:sp>
      <p:sp>
        <p:nvSpPr>
          <p:cNvPr id="36" name="Text 34"/>
          <p:cNvSpPr/>
          <p:nvPr/>
        </p:nvSpPr>
        <p:spPr>
          <a:xfrm>
            <a:off x="4937760" y="3794760"/>
            <a:ext cx="1078992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40" b="1" dirty="0">
                <a:solidFill>
                  <a:srgbClr val="3122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sexta</a:t>
            </a:r>
            <a:endParaRPr lang="en-US" sz="1040" dirty="0"/>
          </a:p>
        </p:txBody>
      </p:sp>
      <p:sp>
        <p:nvSpPr>
          <p:cNvPr id="37" name="Shape 35"/>
          <p:cNvSpPr/>
          <p:nvPr/>
        </p:nvSpPr>
        <p:spPr>
          <a:xfrm>
            <a:off x="5029200" y="4114800"/>
            <a:ext cx="896112" cy="274320"/>
          </a:xfrm>
          <a:prstGeom prst="roundRect">
            <a:avLst>
              <a:gd name="adj" fmla="val 26667"/>
            </a:avLst>
          </a:prstGeom>
          <a:solidFill>
            <a:srgbClr val="F08173"/>
          </a:solidFill>
          <a:ln w="12700">
            <a:solidFill>
              <a:srgbClr val="F0817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38928" y="4224528"/>
            <a:ext cx="676656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reservar agora</a:t>
            </a:r>
            <a:endParaRPr lang="en-US" sz="760" dirty="0"/>
          </a:p>
        </p:txBody>
      </p:sp>
      <p:sp>
        <p:nvSpPr>
          <p:cNvPr id="39" name="Shape 37"/>
          <p:cNvSpPr/>
          <p:nvPr/>
        </p:nvSpPr>
        <p:spPr>
          <a:xfrm>
            <a:off x="2761488" y="4892040"/>
            <a:ext cx="3529584" cy="2057400"/>
          </a:xfrm>
          <a:prstGeom prst="roundRect">
            <a:avLst>
              <a:gd name="adj" fmla="val 3556"/>
            </a:avLst>
          </a:prstGeom>
          <a:solidFill>
            <a:srgbClr val="FFF5F7"/>
          </a:solidFill>
          <a:ln w="10160">
            <a:solidFill>
              <a:srgbClr val="F0CBD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54096" y="5193792"/>
            <a:ext cx="109728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08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 de Reels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054096" y="5532120"/>
            <a:ext cx="2468880" cy="22669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A21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Antes e depois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3054096" y="5797296"/>
            <a:ext cx="2468880" cy="22669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A21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uma esmaltação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3054096" y="6062472"/>
            <a:ext cx="2468880" cy="22669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A21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 drama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3054096" y="6382512"/>
            <a:ext cx="274320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756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Gancho: “Olha como uma cor muda a sensação da mão.”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054096" y="6711696"/>
            <a:ext cx="20482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08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roteiro pronto para gravar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57200" y="8805672"/>
            <a:ext cx="192024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56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Victor Takayama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6565392" y="8805672"/>
            <a:ext cx="329184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56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02336"/>
            <a:ext cx="6492240" cy="0"/>
          </a:xfrm>
          <a:prstGeom prst="line">
            <a:avLst/>
          </a:prstGeom>
          <a:noFill/>
          <a:ln w="6985">
            <a:solidFill>
              <a:srgbClr val="D7C7B9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8741664"/>
            <a:ext cx="6492240" cy="0"/>
          </a:xfrm>
          <a:prstGeom prst="line">
            <a:avLst/>
          </a:prstGeom>
          <a:noFill/>
          <a:ln w="6985">
            <a:solidFill>
              <a:srgbClr val="D7C7B9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713232"/>
            <a:ext cx="36576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PROJETO FICTÍCIO 03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1051560"/>
            <a:ext cx="598932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700" b="1" dirty="0">
                <a:solidFill>
                  <a:srgbClr val="2A21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Maison Brows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85216" y="1965960"/>
            <a:ext cx="58978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20" dirty="0">
                <a:solidFill>
                  <a:srgbClr val="756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Estilo: editorial, elegante e direto. Ideal para designer de sobrancelhas, brow lamination e lash lifting.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658368" y="2798064"/>
            <a:ext cx="5989320" cy="2148840"/>
          </a:xfrm>
          <a:prstGeom prst="rect">
            <a:avLst/>
          </a:prstGeom>
          <a:solidFill>
            <a:srgbClr val="171413"/>
          </a:solidFill>
          <a:ln w="12700">
            <a:solidFill>
              <a:srgbClr val="17141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3136392"/>
            <a:ext cx="14173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B38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MAISON BROWS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60120" y="3493008"/>
            <a:ext cx="3108960" cy="273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Sobrancelhas</a:t>
            </a:r>
            <a:endParaRPr lang="en-US" sz="2050" dirty="0"/>
          </a:p>
        </p:txBody>
      </p:sp>
      <p:sp>
        <p:nvSpPr>
          <p:cNvPr id="10" name="Text 8"/>
          <p:cNvSpPr/>
          <p:nvPr/>
        </p:nvSpPr>
        <p:spPr>
          <a:xfrm>
            <a:off x="960120" y="3840480"/>
            <a:ext cx="3108960" cy="273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 desenho e presença</a:t>
            </a:r>
            <a:endParaRPr lang="en-US" sz="2050" dirty="0"/>
          </a:p>
        </p:txBody>
      </p:sp>
      <p:sp>
        <p:nvSpPr>
          <p:cNvPr id="11" name="Text 9"/>
          <p:cNvSpPr/>
          <p:nvPr/>
        </p:nvSpPr>
        <p:spPr>
          <a:xfrm>
            <a:off x="960120" y="4297680"/>
            <a:ext cx="35661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8CE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de posicionamento para reforçar técnica, cuidado e naturalidade no atendimento.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166360" y="3246120"/>
            <a:ext cx="566928" cy="566928"/>
          </a:xfrm>
          <a:prstGeom prst="rect">
            <a:avLst/>
          </a:prstGeom>
          <a:solidFill>
            <a:srgbClr val="B38656"/>
          </a:solidFill>
          <a:ln w="12700">
            <a:solidFill>
              <a:srgbClr val="B3865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0" y="3886200"/>
            <a:ext cx="384048" cy="384048"/>
          </a:xfrm>
          <a:prstGeom prst="rect">
            <a:avLst/>
          </a:prstGeom>
          <a:solidFill>
            <a:srgbClr val="7A6655"/>
          </a:solidFill>
          <a:ln w="12700">
            <a:solidFill>
              <a:srgbClr val="7A66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5522976"/>
            <a:ext cx="1609344" cy="1609344"/>
          </a:xfrm>
          <a:prstGeom prst="roundRect">
            <a:avLst>
              <a:gd name="adj" fmla="val 4545"/>
            </a:avLst>
          </a:prstGeom>
          <a:solidFill>
            <a:srgbClr val="F0E9DF"/>
          </a:solidFill>
          <a:ln w="10160">
            <a:solidFill>
              <a:srgbClr val="473C3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" y="5669280"/>
            <a:ext cx="1316736" cy="1316736"/>
          </a:xfrm>
          <a:prstGeom prst="rect">
            <a:avLst/>
          </a:prstGeom>
          <a:solidFill>
            <a:srgbClr val="171413"/>
          </a:solidFill>
          <a:ln w="12700">
            <a:solidFill>
              <a:srgbClr val="17141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9264" y="5961888"/>
            <a:ext cx="987552" cy="0"/>
          </a:xfrm>
          <a:prstGeom prst="line">
            <a:avLst/>
          </a:prstGeom>
          <a:noFill/>
          <a:ln w="8890">
            <a:solidFill>
              <a:srgbClr val="B386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" y="6144768"/>
            <a:ext cx="1170432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20" b="1" dirty="0">
                <a:solidFill>
                  <a:srgbClr val="B38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AUTORIDADE</a:t>
            </a:r>
            <a:endParaRPr lang="en-US" sz="520" dirty="0"/>
          </a:p>
        </p:txBody>
      </p:sp>
      <p:sp>
        <p:nvSpPr>
          <p:cNvPr id="18" name="Text 16"/>
          <p:cNvSpPr/>
          <p:nvPr/>
        </p:nvSpPr>
        <p:spPr>
          <a:xfrm>
            <a:off x="886968" y="6336792"/>
            <a:ext cx="1152144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Brow design</a:t>
            </a:r>
            <a:endParaRPr lang="en-US" sz="910" dirty="0"/>
          </a:p>
        </p:txBody>
      </p:sp>
      <p:sp>
        <p:nvSpPr>
          <p:cNvPr id="19" name="Text 17"/>
          <p:cNvSpPr/>
          <p:nvPr/>
        </p:nvSpPr>
        <p:spPr>
          <a:xfrm>
            <a:off x="886968" y="6537960"/>
            <a:ext cx="1152144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não é cópia</a:t>
            </a:r>
            <a:endParaRPr lang="en-US" sz="910" dirty="0"/>
          </a:p>
        </p:txBody>
      </p:sp>
      <p:sp>
        <p:nvSpPr>
          <p:cNvPr id="20" name="Text 18"/>
          <p:cNvSpPr/>
          <p:nvPr/>
        </p:nvSpPr>
        <p:spPr>
          <a:xfrm>
            <a:off x="914400" y="6848856"/>
            <a:ext cx="10972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9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entenda o formato</a:t>
            </a:r>
            <a:endParaRPr lang="en-US" sz="490" dirty="0"/>
          </a:p>
        </p:txBody>
      </p:sp>
      <p:sp>
        <p:nvSpPr>
          <p:cNvPr id="21" name="Shape 19"/>
          <p:cNvSpPr/>
          <p:nvPr/>
        </p:nvSpPr>
        <p:spPr>
          <a:xfrm>
            <a:off x="2487168" y="5522976"/>
            <a:ext cx="1609344" cy="1609344"/>
          </a:xfrm>
          <a:prstGeom prst="roundRect">
            <a:avLst>
              <a:gd name="adj" fmla="val 4545"/>
            </a:avLst>
          </a:prstGeom>
          <a:solidFill>
            <a:srgbClr val="F0E9DF"/>
          </a:solidFill>
          <a:ln w="10160">
            <a:solidFill>
              <a:srgbClr val="473C3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33472" y="5669280"/>
            <a:ext cx="1316736" cy="1316736"/>
          </a:xfrm>
          <a:prstGeom prst="rect">
            <a:avLst/>
          </a:prstGeom>
          <a:solidFill>
            <a:srgbClr val="171413"/>
          </a:solidFill>
          <a:ln w="12700">
            <a:solidFill>
              <a:srgbClr val="17141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98064" y="5961888"/>
            <a:ext cx="987552" cy="0"/>
          </a:xfrm>
          <a:prstGeom prst="line">
            <a:avLst/>
          </a:prstGeom>
          <a:noFill/>
          <a:ln w="8890">
            <a:solidFill>
              <a:srgbClr val="B3865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06624" y="6144768"/>
            <a:ext cx="1170432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20" b="1" dirty="0">
                <a:solidFill>
                  <a:srgbClr val="B38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SERVIÇO</a:t>
            </a:r>
            <a:endParaRPr lang="en-US" sz="520" dirty="0"/>
          </a:p>
        </p:txBody>
      </p:sp>
      <p:sp>
        <p:nvSpPr>
          <p:cNvPr id="25" name="Text 23"/>
          <p:cNvSpPr/>
          <p:nvPr/>
        </p:nvSpPr>
        <p:spPr>
          <a:xfrm>
            <a:off x="2715768" y="6336792"/>
            <a:ext cx="1152144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Agenda de</a:t>
            </a:r>
            <a:endParaRPr lang="en-US" sz="910" dirty="0"/>
          </a:p>
        </p:txBody>
      </p:sp>
      <p:sp>
        <p:nvSpPr>
          <p:cNvPr id="26" name="Text 24"/>
          <p:cNvSpPr/>
          <p:nvPr/>
        </p:nvSpPr>
        <p:spPr>
          <a:xfrm>
            <a:off x="2715768" y="6537960"/>
            <a:ext cx="1152144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manutenção</a:t>
            </a:r>
            <a:endParaRPr lang="en-US" sz="910" dirty="0"/>
          </a:p>
        </p:txBody>
      </p:sp>
      <p:sp>
        <p:nvSpPr>
          <p:cNvPr id="27" name="Text 25"/>
          <p:cNvSpPr/>
          <p:nvPr/>
        </p:nvSpPr>
        <p:spPr>
          <a:xfrm>
            <a:off x="2743200" y="6848856"/>
            <a:ext cx="10972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9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reserve horário</a:t>
            </a:r>
            <a:endParaRPr lang="en-US" sz="490" dirty="0"/>
          </a:p>
        </p:txBody>
      </p:sp>
      <p:sp>
        <p:nvSpPr>
          <p:cNvPr id="28" name="Shape 26"/>
          <p:cNvSpPr/>
          <p:nvPr/>
        </p:nvSpPr>
        <p:spPr>
          <a:xfrm>
            <a:off x="4315968" y="5522976"/>
            <a:ext cx="1609344" cy="1609344"/>
          </a:xfrm>
          <a:prstGeom prst="roundRect">
            <a:avLst>
              <a:gd name="adj" fmla="val 4545"/>
            </a:avLst>
          </a:prstGeom>
          <a:solidFill>
            <a:srgbClr val="F0E9DF"/>
          </a:solidFill>
          <a:ln w="10160">
            <a:solidFill>
              <a:srgbClr val="473C3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62272" y="5669280"/>
            <a:ext cx="1316736" cy="1316736"/>
          </a:xfrm>
          <a:prstGeom prst="rect">
            <a:avLst/>
          </a:prstGeom>
          <a:solidFill>
            <a:srgbClr val="171413"/>
          </a:solidFill>
          <a:ln w="12700">
            <a:solidFill>
              <a:srgbClr val="17141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26864" y="5961888"/>
            <a:ext cx="987552" cy="0"/>
          </a:xfrm>
          <a:prstGeom prst="line">
            <a:avLst/>
          </a:prstGeom>
          <a:noFill/>
          <a:ln w="8890">
            <a:solidFill>
              <a:srgbClr val="B3865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35424" y="6144768"/>
            <a:ext cx="1170432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20" b="1" dirty="0">
                <a:solidFill>
                  <a:srgbClr val="B38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PÓS-ATENDIMENTO</a:t>
            </a:r>
            <a:endParaRPr lang="en-US" sz="520" dirty="0"/>
          </a:p>
        </p:txBody>
      </p:sp>
      <p:sp>
        <p:nvSpPr>
          <p:cNvPr id="32" name="Text 30"/>
          <p:cNvSpPr/>
          <p:nvPr/>
        </p:nvSpPr>
        <p:spPr>
          <a:xfrm>
            <a:off x="4544568" y="6336792"/>
            <a:ext cx="1152144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 cuidados após</a:t>
            </a:r>
            <a:endParaRPr lang="en-US" sz="910" dirty="0"/>
          </a:p>
        </p:txBody>
      </p:sp>
      <p:sp>
        <p:nvSpPr>
          <p:cNvPr id="33" name="Text 31"/>
          <p:cNvSpPr/>
          <p:nvPr/>
        </p:nvSpPr>
        <p:spPr>
          <a:xfrm>
            <a:off x="4544568" y="6537960"/>
            <a:ext cx="1152144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procedimento</a:t>
            </a:r>
            <a:endParaRPr lang="en-US" sz="910" dirty="0"/>
          </a:p>
        </p:txBody>
      </p:sp>
      <p:sp>
        <p:nvSpPr>
          <p:cNvPr id="34" name="Text 32"/>
          <p:cNvSpPr/>
          <p:nvPr/>
        </p:nvSpPr>
        <p:spPr>
          <a:xfrm>
            <a:off x="4572000" y="6848856"/>
            <a:ext cx="10972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9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salve para lembrar</a:t>
            </a:r>
            <a:endParaRPr lang="en-US" sz="490" dirty="0"/>
          </a:p>
        </p:txBody>
      </p:sp>
      <p:sp>
        <p:nvSpPr>
          <p:cNvPr id="35" name="Text 33"/>
          <p:cNvSpPr/>
          <p:nvPr/>
        </p:nvSpPr>
        <p:spPr>
          <a:xfrm>
            <a:off x="777240" y="7626096"/>
            <a:ext cx="56692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756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Legenda pronta: O melhor design respeita o seu rosto. Antes de pensar em tendência, observamos proporção, rotina e naturalidade.</a:t>
            </a:r>
            <a:endParaRPr lang="en-US" sz="1060" dirty="0"/>
          </a:p>
        </p:txBody>
      </p:sp>
      <p:sp>
        <p:nvSpPr>
          <p:cNvPr id="36" name="Text 34"/>
          <p:cNvSpPr/>
          <p:nvPr/>
        </p:nvSpPr>
        <p:spPr>
          <a:xfrm>
            <a:off x="457200" y="8805672"/>
            <a:ext cx="192024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56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Victor Takayama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6565392" y="8805672"/>
            <a:ext cx="329184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56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02336"/>
            <a:ext cx="6492240" cy="0"/>
          </a:xfrm>
          <a:prstGeom prst="line">
            <a:avLst/>
          </a:prstGeom>
          <a:noFill/>
          <a:ln w="6985">
            <a:solidFill>
              <a:srgbClr val="D7C7B9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8741664"/>
            <a:ext cx="6492240" cy="0"/>
          </a:xfrm>
          <a:prstGeom prst="line">
            <a:avLst/>
          </a:prstGeom>
          <a:noFill/>
          <a:ln w="6985">
            <a:solidFill>
              <a:srgbClr val="D7C7B9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713232"/>
            <a:ext cx="36576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VARIEDADE VISUAL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1051560"/>
            <a:ext cx="598932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700" b="1" dirty="0">
                <a:solidFill>
                  <a:srgbClr val="2A21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Três direções, três públicos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85216" y="1965960"/>
            <a:ext cx="58978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20" dirty="0">
                <a:solidFill>
                  <a:srgbClr val="756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portfólio demonstra adaptação: cada negócio pede um tom visual, uma linguagem e um tipo de chamada diferentes.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731520" y="2834640"/>
            <a:ext cx="1481328" cy="1481328"/>
          </a:xfrm>
          <a:prstGeom prst="roundRect">
            <a:avLst>
              <a:gd name="adj" fmla="val 4938"/>
            </a:avLst>
          </a:prstGeom>
          <a:solidFill>
            <a:srgbClr val="F8F0E8"/>
          </a:solidFill>
          <a:ln w="10160">
            <a:solidFill>
              <a:srgbClr val="E2CE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2999232"/>
            <a:ext cx="1152144" cy="1152144"/>
          </a:xfrm>
          <a:prstGeom prst="rect">
            <a:avLst/>
          </a:prstGeom>
          <a:solidFill>
            <a:srgbClr val="FFF8F1"/>
          </a:solidFill>
          <a:ln w="12700">
            <a:solidFill>
              <a:srgbClr val="FFF8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154680"/>
            <a:ext cx="93268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70" b="1" dirty="0">
                <a:solidFill>
                  <a:srgbClr val="B38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AURA PELE</a:t>
            </a:r>
            <a:endParaRPr lang="en-US" sz="570" dirty="0"/>
          </a:p>
        </p:txBody>
      </p:sp>
      <p:sp>
        <p:nvSpPr>
          <p:cNvPr id="10" name="Shape 8"/>
          <p:cNvSpPr/>
          <p:nvPr/>
        </p:nvSpPr>
        <p:spPr>
          <a:xfrm>
            <a:off x="1078992" y="3438144"/>
            <a:ext cx="786384" cy="0"/>
          </a:xfrm>
          <a:prstGeom prst="line">
            <a:avLst/>
          </a:prstGeom>
          <a:noFill/>
          <a:ln w="8890">
            <a:solidFill>
              <a:srgbClr val="B386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3621024"/>
            <a:ext cx="96926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2D23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Pele cuidada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987552" y="3840480"/>
            <a:ext cx="96926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2D23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 excesso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1005840" y="4023360"/>
            <a:ext cx="93268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D23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avaliação aberta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731520" y="4645152"/>
            <a:ext cx="17373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A21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Clínica sofisticada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31520" y="4937760"/>
            <a:ext cx="18288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56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clareza, calma e autoridade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889504" y="2834640"/>
            <a:ext cx="1481328" cy="1481328"/>
          </a:xfrm>
          <a:prstGeom prst="roundRect">
            <a:avLst>
              <a:gd name="adj" fmla="val 4938"/>
            </a:avLst>
          </a:prstGeom>
          <a:solidFill>
            <a:srgbClr val="FFF4F7"/>
          </a:solidFill>
          <a:ln w="10160">
            <a:solidFill>
              <a:srgbClr val="F1C9D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41648" y="2926080"/>
            <a:ext cx="201168" cy="201168"/>
          </a:xfrm>
          <a:prstGeom prst="ellipse">
            <a:avLst/>
          </a:prstGeom>
          <a:solidFill>
            <a:srgbClr val="A5D9C7"/>
          </a:solidFill>
          <a:ln w="12700">
            <a:solidFill>
              <a:srgbClr val="A5D9C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99232" y="4005072"/>
            <a:ext cx="182880" cy="182880"/>
          </a:xfrm>
          <a:prstGeom prst="ellipse">
            <a:avLst/>
          </a:prstGeom>
          <a:solidFill>
            <a:srgbClr val="F3D579"/>
          </a:solidFill>
          <a:ln w="12700">
            <a:solidFill>
              <a:srgbClr val="F3D57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45536" y="3154680"/>
            <a:ext cx="969264" cy="91440"/>
          </a:xfrm>
          <a:prstGeom prst="rect">
            <a:avLst/>
          </a:prstGeom>
          <a:solidFill>
            <a:srgbClr val="F08173"/>
          </a:solidFill>
          <a:ln w="12700">
            <a:solidFill>
              <a:srgbClr val="F0817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45536" y="3401568"/>
            <a:ext cx="96926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70" b="1" dirty="0">
                <a:solidFill>
                  <a:srgbClr val="F08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LUNA NAILS</a:t>
            </a:r>
            <a:endParaRPr lang="en-US" sz="570" dirty="0"/>
          </a:p>
        </p:txBody>
      </p:sp>
      <p:sp>
        <p:nvSpPr>
          <p:cNvPr id="21" name="Text 19"/>
          <p:cNvSpPr/>
          <p:nvPr/>
        </p:nvSpPr>
        <p:spPr>
          <a:xfrm>
            <a:off x="3163824" y="3602736"/>
            <a:ext cx="932688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40" b="1" dirty="0">
                <a:solidFill>
                  <a:srgbClr val="3122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Unhas da</a:t>
            </a:r>
            <a:endParaRPr lang="en-US" sz="1040" dirty="0"/>
          </a:p>
        </p:txBody>
      </p:sp>
      <p:sp>
        <p:nvSpPr>
          <p:cNvPr id="22" name="Text 20"/>
          <p:cNvSpPr/>
          <p:nvPr/>
        </p:nvSpPr>
        <p:spPr>
          <a:xfrm>
            <a:off x="3163824" y="3813048"/>
            <a:ext cx="932688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40" b="1" dirty="0">
                <a:solidFill>
                  <a:srgbClr val="3122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semana</a:t>
            </a:r>
            <a:endParaRPr lang="en-US" sz="1040" dirty="0"/>
          </a:p>
        </p:txBody>
      </p:sp>
      <p:sp>
        <p:nvSpPr>
          <p:cNvPr id="23" name="Shape 21"/>
          <p:cNvSpPr/>
          <p:nvPr/>
        </p:nvSpPr>
        <p:spPr>
          <a:xfrm>
            <a:off x="3255264" y="3986784"/>
            <a:ext cx="749808" cy="274320"/>
          </a:xfrm>
          <a:prstGeom prst="roundRect">
            <a:avLst>
              <a:gd name="adj" fmla="val 26667"/>
            </a:avLst>
          </a:prstGeom>
          <a:solidFill>
            <a:srgbClr val="F08173"/>
          </a:solidFill>
          <a:ln w="12700">
            <a:solidFill>
              <a:srgbClr val="F0817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64992" y="4096512"/>
            <a:ext cx="53035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 horários</a:t>
            </a:r>
            <a:endParaRPr lang="en-US" sz="760" dirty="0"/>
          </a:p>
        </p:txBody>
      </p:sp>
      <p:sp>
        <p:nvSpPr>
          <p:cNvPr id="25" name="Text 23"/>
          <p:cNvSpPr/>
          <p:nvPr/>
        </p:nvSpPr>
        <p:spPr>
          <a:xfrm>
            <a:off x="2889504" y="4645152"/>
            <a:ext cx="17373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A21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Studio vibrante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889504" y="4937760"/>
            <a:ext cx="18288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56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cor, recorrência e reserva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47488" y="2834640"/>
            <a:ext cx="1481328" cy="1481328"/>
          </a:xfrm>
          <a:prstGeom prst="roundRect">
            <a:avLst>
              <a:gd name="adj" fmla="val 4938"/>
            </a:avLst>
          </a:prstGeom>
          <a:solidFill>
            <a:srgbClr val="F0E9DF"/>
          </a:solidFill>
          <a:ln w="10160">
            <a:solidFill>
              <a:srgbClr val="473C3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93792" y="2980944"/>
            <a:ext cx="1188720" cy="1188720"/>
          </a:xfrm>
          <a:prstGeom prst="rect">
            <a:avLst/>
          </a:prstGeom>
          <a:solidFill>
            <a:srgbClr val="171413"/>
          </a:solidFill>
          <a:ln w="12700">
            <a:solidFill>
              <a:srgbClr val="17141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58384" y="3273552"/>
            <a:ext cx="859536" cy="0"/>
          </a:xfrm>
          <a:prstGeom prst="line">
            <a:avLst/>
          </a:prstGeom>
          <a:noFill/>
          <a:ln w="8890">
            <a:solidFill>
              <a:srgbClr val="B3865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66944" y="3456432"/>
            <a:ext cx="1042416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20" b="1" dirty="0">
                <a:solidFill>
                  <a:srgbClr val="B38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MAISON BROWS</a:t>
            </a:r>
            <a:endParaRPr lang="en-US" sz="520" dirty="0"/>
          </a:p>
        </p:txBody>
      </p:sp>
      <p:sp>
        <p:nvSpPr>
          <p:cNvPr id="31" name="Text 29"/>
          <p:cNvSpPr/>
          <p:nvPr/>
        </p:nvSpPr>
        <p:spPr>
          <a:xfrm>
            <a:off x="5276088" y="3648456"/>
            <a:ext cx="1024128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Sobrancelhas</a:t>
            </a:r>
            <a:endParaRPr lang="en-US" sz="910" dirty="0"/>
          </a:p>
        </p:txBody>
      </p:sp>
      <p:sp>
        <p:nvSpPr>
          <p:cNvPr id="32" name="Text 30"/>
          <p:cNvSpPr/>
          <p:nvPr/>
        </p:nvSpPr>
        <p:spPr>
          <a:xfrm>
            <a:off x="5276088" y="3849624"/>
            <a:ext cx="1024128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 presença</a:t>
            </a:r>
            <a:endParaRPr lang="en-US" sz="910" dirty="0"/>
          </a:p>
        </p:txBody>
      </p:sp>
      <p:sp>
        <p:nvSpPr>
          <p:cNvPr id="33" name="Text 31"/>
          <p:cNvSpPr/>
          <p:nvPr/>
        </p:nvSpPr>
        <p:spPr>
          <a:xfrm>
            <a:off x="5303520" y="4032504"/>
            <a:ext cx="96926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9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reservas abertas</a:t>
            </a:r>
            <a:endParaRPr lang="en-US" sz="490" dirty="0"/>
          </a:p>
        </p:txBody>
      </p:sp>
      <p:sp>
        <p:nvSpPr>
          <p:cNvPr id="34" name="Text 32"/>
          <p:cNvSpPr/>
          <p:nvPr/>
        </p:nvSpPr>
        <p:spPr>
          <a:xfrm>
            <a:off x="5047488" y="4645152"/>
            <a:ext cx="17373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A21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 editorial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047488" y="4937760"/>
            <a:ext cx="18288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56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técnica, elegância e precisão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13232" y="6144768"/>
            <a:ext cx="5943600" cy="960120"/>
          </a:xfrm>
          <a:prstGeom prst="roundRect">
            <a:avLst>
              <a:gd name="adj" fmla="val 7619"/>
            </a:avLst>
          </a:prstGeom>
          <a:solidFill>
            <a:srgbClr val="FFFDF8"/>
          </a:solidFill>
          <a:ln w="10160">
            <a:solidFill>
              <a:srgbClr val="D7C7B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0120" y="6437376"/>
            <a:ext cx="53949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80" dirty="0">
                <a:solidFill>
                  <a:srgbClr val="2A21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objetivo não é usar o mesmo template para todo mundo. É adaptar o conteúdo ao posicionamento, ao serviço e ao tipo de cliente que o negócio quer atrair.</a:t>
            </a:r>
            <a:endParaRPr lang="en-US" sz="1180" dirty="0"/>
          </a:p>
        </p:txBody>
      </p:sp>
      <p:sp>
        <p:nvSpPr>
          <p:cNvPr id="38" name="Text 36"/>
          <p:cNvSpPr/>
          <p:nvPr/>
        </p:nvSpPr>
        <p:spPr>
          <a:xfrm>
            <a:off x="457200" y="8805672"/>
            <a:ext cx="192024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56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Victor Takayama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6565392" y="8805672"/>
            <a:ext cx="329184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56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02336"/>
            <a:ext cx="6492240" cy="0"/>
          </a:xfrm>
          <a:prstGeom prst="line">
            <a:avLst/>
          </a:prstGeom>
          <a:noFill/>
          <a:ln w="6985">
            <a:solidFill>
              <a:srgbClr val="D7C7B9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8741664"/>
            <a:ext cx="6492240" cy="0"/>
          </a:xfrm>
          <a:prstGeom prst="line">
            <a:avLst/>
          </a:prstGeom>
          <a:noFill/>
          <a:ln w="6985">
            <a:solidFill>
              <a:srgbClr val="D7C7B9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713232"/>
            <a:ext cx="36576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VÍDEOS CURTOS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1051560"/>
            <a:ext cx="598932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700" b="1" dirty="0">
                <a:solidFill>
                  <a:srgbClr val="2A21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 roteiros de Reels com estrutura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85216" y="1965960"/>
            <a:ext cx="58978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20" dirty="0">
                <a:solidFill>
                  <a:srgbClr val="756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ideia já vem com gancho, cenas sugeridas e chamada final. Isso facilita gravar sem ficar improvisando.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658368" y="2880360"/>
            <a:ext cx="5989320" cy="1005840"/>
          </a:xfrm>
          <a:prstGeom prst="roundRect">
            <a:avLst>
              <a:gd name="adj" fmla="val 7273"/>
            </a:avLst>
          </a:prstGeom>
          <a:solidFill>
            <a:srgbClr val="FFFDF8"/>
          </a:solidFill>
          <a:ln w="10160">
            <a:solidFill>
              <a:srgbClr val="FFF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3044952"/>
            <a:ext cx="31089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325880" y="3026664"/>
            <a:ext cx="24688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A21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Bastidores que geram confiança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25880" y="3364992"/>
            <a:ext cx="48463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756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Ambiente preparado, materiais organizados, detalhe do atendimento e texto: “antes do resultado, existe cuidado em cada etapa.”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658368" y="4178808"/>
            <a:ext cx="5989320" cy="1005840"/>
          </a:xfrm>
          <a:prstGeom prst="roundRect">
            <a:avLst>
              <a:gd name="adj" fmla="val 7273"/>
            </a:avLst>
          </a:prstGeom>
          <a:solidFill>
            <a:srgbClr val="E9DDD2"/>
          </a:solidFill>
          <a:ln w="10160">
            <a:solidFill>
              <a:srgbClr val="E9DD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4343400"/>
            <a:ext cx="31089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325880" y="4325112"/>
            <a:ext cx="24688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A21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Dúvida frequente que educa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25880" y="4663440"/>
            <a:ext cx="48463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756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Gancho: “Preciso fazer esse procedimento todo mês?” Resposta em 3 pontos e chamada para avaliação.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658368" y="5477256"/>
            <a:ext cx="5989320" cy="1005840"/>
          </a:xfrm>
          <a:prstGeom prst="roundRect">
            <a:avLst>
              <a:gd name="adj" fmla="val 7273"/>
            </a:avLst>
          </a:prstGeom>
          <a:solidFill>
            <a:srgbClr val="FFFDF8"/>
          </a:solidFill>
          <a:ln w="10160">
            <a:solidFill>
              <a:srgbClr val="FFF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5641848"/>
            <a:ext cx="31089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325880" y="5623560"/>
            <a:ext cx="24688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A21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 com urgência leve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25880" y="5961888"/>
            <a:ext cx="48463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756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Mostre horários disponíveis, destaque 2 serviços e finalize com: “envie quero horário no WhatsApp.”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1719072" y="7242048"/>
            <a:ext cx="3566160" cy="347472"/>
          </a:xfrm>
          <a:prstGeom prst="roundRect">
            <a:avLst>
              <a:gd name="adj" fmla="val 21053"/>
            </a:avLst>
          </a:prstGeom>
          <a:solidFill>
            <a:srgbClr val="2D231F"/>
          </a:solidFill>
          <a:ln w="12700">
            <a:solidFill>
              <a:srgbClr val="2D23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0" y="7351776"/>
            <a:ext cx="334670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Duração sugerida: 15 a 25 segundos</a:t>
            </a:r>
            <a:endParaRPr lang="en-US" sz="760" dirty="0"/>
          </a:p>
        </p:txBody>
      </p:sp>
      <p:sp>
        <p:nvSpPr>
          <p:cNvPr id="21" name="Text 19"/>
          <p:cNvSpPr/>
          <p:nvPr/>
        </p:nvSpPr>
        <p:spPr>
          <a:xfrm>
            <a:off x="457200" y="8805672"/>
            <a:ext cx="192024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56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Victor Takayama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6565392" y="8805672"/>
            <a:ext cx="329184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56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02336"/>
            <a:ext cx="6492240" cy="0"/>
          </a:xfrm>
          <a:prstGeom prst="line">
            <a:avLst/>
          </a:prstGeom>
          <a:noFill/>
          <a:ln w="6985">
            <a:solidFill>
              <a:srgbClr val="D7C7B9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8741664"/>
            <a:ext cx="6492240" cy="0"/>
          </a:xfrm>
          <a:prstGeom prst="line">
            <a:avLst/>
          </a:prstGeom>
          <a:noFill/>
          <a:ln w="6985">
            <a:solidFill>
              <a:srgbClr val="D7C7B9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713232"/>
            <a:ext cx="36576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PLANEJAMENTO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1051560"/>
            <a:ext cx="598932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700" b="1" dirty="0">
                <a:solidFill>
                  <a:srgbClr val="2A21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Calendário de conteúdo - 7 dias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85216" y="1965960"/>
            <a:ext cx="58978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20" dirty="0">
                <a:solidFill>
                  <a:srgbClr val="756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Uma sequência com função: posicionar, educar, mostrar bastidores e abrir conversa de agendamento.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658368" y="2788920"/>
            <a:ext cx="5989320" cy="438912"/>
          </a:xfrm>
          <a:prstGeom prst="roundRect">
            <a:avLst>
              <a:gd name="adj" fmla="val 10417"/>
            </a:avLst>
          </a:prstGeom>
          <a:solidFill>
            <a:srgbClr val="FFFDF8"/>
          </a:solidFill>
          <a:ln w="10160">
            <a:solidFill>
              <a:srgbClr val="FFF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916936"/>
            <a:ext cx="56692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 1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536192" y="2889504"/>
            <a:ext cx="14173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b="1" dirty="0">
                <a:solidFill>
                  <a:srgbClr val="2A21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Posicionamento</a:t>
            </a:r>
            <a:endParaRPr lang="en-US" sz="940" dirty="0"/>
          </a:p>
        </p:txBody>
      </p:sp>
      <p:sp>
        <p:nvSpPr>
          <p:cNvPr id="10" name="Text 8"/>
          <p:cNvSpPr/>
          <p:nvPr/>
        </p:nvSpPr>
        <p:spPr>
          <a:xfrm>
            <a:off x="3145536" y="2889504"/>
            <a:ext cx="28346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756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Quem é a profissional e qual serviço principal</a:t>
            </a:r>
            <a:endParaRPr lang="en-US" sz="810" dirty="0"/>
          </a:p>
        </p:txBody>
      </p:sp>
      <p:sp>
        <p:nvSpPr>
          <p:cNvPr id="11" name="Shape 9"/>
          <p:cNvSpPr/>
          <p:nvPr/>
        </p:nvSpPr>
        <p:spPr>
          <a:xfrm>
            <a:off x="658368" y="3410712"/>
            <a:ext cx="5989320" cy="438912"/>
          </a:xfrm>
          <a:prstGeom prst="roundRect">
            <a:avLst>
              <a:gd name="adj" fmla="val 10417"/>
            </a:avLst>
          </a:prstGeom>
          <a:solidFill>
            <a:srgbClr val="E9DDD2"/>
          </a:solidFill>
          <a:ln w="10160">
            <a:solidFill>
              <a:srgbClr val="E9DD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538728"/>
            <a:ext cx="56692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 2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536192" y="3511296"/>
            <a:ext cx="14173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b="1" dirty="0">
                <a:solidFill>
                  <a:srgbClr val="2A21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Story bastidores</a:t>
            </a:r>
            <a:endParaRPr lang="en-US" sz="940" dirty="0"/>
          </a:p>
        </p:txBody>
      </p:sp>
      <p:sp>
        <p:nvSpPr>
          <p:cNvPr id="14" name="Text 12"/>
          <p:cNvSpPr/>
          <p:nvPr/>
        </p:nvSpPr>
        <p:spPr>
          <a:xfrm>
            <a:off x="3145536" y="3511296"/>
            <a:ext cx="28346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756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Preparação do espaço e materiais</a:t>
            </a:r>
            <a:endParaRPr lang="en-US" sz="810" dirty="0"/>
          </a:p>
        </p:txBody>
      </p:sp>
      <p:sp>
        <p:nvSpPr>
          <p:cNvPr id="15" name="Shape 13"/>
          <p:cNvSpPr/>
          <p:nvPr/>
        </p:nvSpPr>
        <p:spPr>
          <a:xfrm>
            <a:off x="658368" y="4032504"/>
            <a:ext cx="5989320" cy="438912"/>
          </a:xfrm>
          <a:prstGeom prst="roundRect">
            <a:avLst>
              <a:gd name="adj" fmla="val 10417"/>
            </a:avLst>
          </a:prstGeom>
          <a:solidFill>
            <a:srgbClr val="FFFDF8"/>
          </a:solidFill>
          <a:ln w="10160">
            <a:solidFill>
              <a:srgbClr val="FFF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160520"/>
            <a:ext cx="56692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 3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536192" y="4133088"/>
            <a:ext cx="14173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b="1" dirty="0">
                <a:solidFill>
                  <a:srgbClr val="2A21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educativo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3145536" y="4133088"/>
            <a:ext cx="28346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756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Dúvida comum respondida de forma simples</a:t>
            </a:r>
            <a:endParaRPr lang="en-US" sz="810" dirty="0"/>
          </a:p>
        </p:txBody>
      </p:sp>
      <p:sp>
        <p:nvSpPr>
          <p:cNvPr id="19" name="Shape 17"/>
          <p:cNvSpPr/>
          <p:nvPr/>
        </p:nvSpPr>
        <p:spPr>
          <a:xfrm>
            <a:off x="658368" y="4654296"/>
            <a:ext cx="5989320" cy="438912"/>
          </a:xfrm>
          <a:prstGeom prst="roundRect">
            <a:avLst>
              <a:gd name="adj" fmla="val 10417"/>
            </a:avLst>
          </a:prstGeom>
          <a:solidFill>
            <a:srgbClr val="E9DDD2"/>
          </a:solidFill>
          <a:ln w="10160">
            <a:solidFill>
              <a:srgbClr val="E9DD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782312"/>
            <a:ext cx="56692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 4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536192" y="4754880"/>
            <a:ext cx="14173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b="1" dirty="0">
                <a:solidFill>
                  <a:srgbClr val="2A21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Reels dúvida frequente</a:t>
            </a:r>
            <a:endParaRPr lang="en-US" sz="940" dirty="0"/>
          </a:p>
        </p:txBody>
      </p:sp>
      <p:sp>
        <p:nvSpPr>
          <p:cNvPr id="22" name="Text 20"/>
          <p:cNvSpPr/>
          <p:nvPr/>
        </p:nvSpPr>
        <p:spPr>
          <a:xfrm>
            <a:off x="3145536" y="4754880"/>
            <a:ext cx="28346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756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Resposta rápida com chamada para avaliação</a:t>
            </a:r>
            <a:endParaRPr lang="en-US" sz="810" dirty="0"/>
          </a:p>
        </p:txBody>
      </p:sp>
      <p:sp>
        <p:nvSpPr>
          <p:cNvPr id="23" name="Shape 21"/>
          <p:cNvSpPr/>
          <p:nvPr/>
        </p:nvSpPr>
        <p:spPr>
          <a:xfrm>
            <a:off x="658368" y="5276088"/>
            <a:ext cx="5989320" cy="438912"/>
          </a:xfrm>
          <a:prstGeom prst="roundRect">
            <a:avLst>
              <a:gd name="adj" fmla="val 10417"/>
            </a:avLst>
          </a:prstGeom>
          <a:solidFill>
            <a:srgbClr val="FFFDF8"/>
          </a:solidFill>
          <a:ln w="10160">
            <a:solidFill>
              <a:srgbClr val="FFFD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5404104"/>
            <a:ext cx="56692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 5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536192" y="5376672"/>
            <a:ext cx="14173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b="1" dirty="0">
                <a:solidFill>
                  <a:srgbClr val="2A21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demonstrativo</a:t>
            </a:r>
            <a:endParaRPr lang="en-US" sz="940" dirty="0"/>
          </a:p>
        </p:txBody>
      </p:sp>
      <p:sp>
        <p:nvSpPr>
          <p:cNvPr id="26" name="Text 24"/>
          <p:cNvSpPr/>
          <p:nvPr/>
        </p:nvSpPr>
        <p:spPr>
          <a:xfrm>
            <a:off x="3145536" y="5376672"/>
            <a:ext cx="28346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756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Antes/depois autorizado ou detalhe do processo</a:t>
            </a:r>
            <a:endParaRPr lang="en-US" sz="810" dirty="0"/>
          </a:p>
        </p:txBody>
      </p:sp>
      <p:sp>
        <p:nvSpPr>
          <p:cNvPr id="27" name="Shape 25"/>
          <p:cNvSpPr/>
          <p:nvPr/>
        </p:nvSpPr>
        <p:spPr>
          <a:xfrm>
            <a:off x="658368" y="5897880"/>
            <a:ext cx="5989320" cy="438912"/>
          </a:xfrm>
          <a:prstGeom prst="roundRect">
            <a:avLst>
              <a:gd name="adj" fmla="val 10417"/>
            </a:avLst>
          </a:prstGeom>
          <a:solidFill>
            <a:srgbClr val="E9DDD2"/>
          </a:solidFill>
          <a:ln w="10160">
            <a:solidFill>
              <a:srgbClr val="E9DDD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6025896"/>
            <a:ext cx="56692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 6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1536192" y="5998464"/>
            <a:ext cx="14173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b="1" dirty="0">
                <a:solidFill>
                  <a:srgbClr val="2A21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 aberta</a:t>
            </a:r>
            <a:endParaRPr lang="en-US" sz="940" dirty="0"/>
          </a:p>
        </p:txBody>
      </p:sp>
      <p:sp>
        <p:nvSpPr>
          <p:cNvPr id="30" name="Text 28"/>
          <p:cNvSpPr/>
          <p:nvPr/>
        </p:nvSpPr>
        <p:spPr>
          <a:xfrm>
            <a:off x="3145536" y="5998464"/>
            <a:ext cx="28346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756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Horários disponíveis e serviço em destaque</a:t>
            </a:r>
            <a:endParaRPr lang="en-US" sz="810" dirty="0"/>
          </a:p>
        </p:txBody>
      </p:sp>
      <p:sp>
        <p:nvSpPr>
          <p:cNvPr id="31" name="Shape 29"/>
          <p:cNvSpPr/>
          <p:nvPr/>
        </p:nvSpPr>
        <p:spPr>
          <a:xfrm>
            <a:off x="658368" y="6519672"/>
            <a:ext cx="5989320" cy="438912"/>
          </a:xfrm>
          <a:prstGeom prst="roundRect">
            <a:avLst>
              <a:gd name="adj" fmla="val 10417"/>
            </a:avLst>
          </a:prstGeom>
          <a:solidFill>
            <a:srgbClr val="FFFDF8"/>
          </a:solidFill>
          <a:ln w="10160">
            <a:solidFill>
              <a:srgbClr val="FFFD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" y="6647688"/>
            <a:ext cx="56692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 7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1536192" y="6620256"/>
            <a:ext cx="14173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b="1" dirty="0">
                <a:solidFill>
                  <a:srgbClr val="2A21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Reels bastidores</a:t>
            </a:r>
            <a:endParaRPr lang="en-US" sz="940" dirty="0"/>
          </a:p>
        </p:txBody>
      </p:sp>
      <p:sp>
        <p:nvSpPr>
          <p:cNvPr id="34" name="Text 32"/>
          <p:cNvSpPr/>
          <p:nvPr/>
        </p:nvSpPr>
        <p:spPr>
          <a:xfrm>
            <a:off x="3145536" y="6620256"/>
            <a:ext cx="28346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756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Rotina do atendimento com chamada para WhatsApp</a:t>
            </a:r>
            <a:endParaRPr lang="en-US" sz="810" dirty="0"/>
          </a:p>
        </p:txBody>
      </p:sp>
      <p:sp>
        <p:nvSpPr>
          <p:cNvPr id="35" name="Shape 33"/>
          <p:cNvSpPr/>
          <p:nvPr/>
        </p:nvSpPr>
        <p:spPr>
          <a:xfrm>
            <a:off x="658368" y="7571232"/>
            <a:ext cx="5989320" cy="548640"/>
          </a:xfrm>
          <a:prstGeom prst="roundRect">
            <a:avLst>
              <a:gd name="adj" fmla="val 13333"/>
            </a:avLst>
          </a:prstGeom>
          <a:solidFill>
            <a:srgbClr val="2D231F"/>
          </a:solidFill>
          <a:ln w="10160">
            <a:solidFill>
              <a:srgbClr val="2D231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" y="7772400"/>
            <a:ext cx="557784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Estratégia: cada post precisa ter função, não apenas ocupar espaço no feed.</a:t>
            </a:r>
            <a:endParaRPr lang="en-US" sz="1040" dirty="0"/>
          </a:p>
        </p:txBody>
      </p:sp>
      <p:sp>
        <p:nvSpPr>
          <p:cNvPr id="37" name="Text 35"/>
          <p:cNvSpPr/>
          <p:nvPr/>
        </p:nvSpPr>
        <p:spPr>
          <a:xfrm>
            <a:off x="457200" y="8805672"/>
            <a:ext cx="192024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56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Victor Takayama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6565392" y="8805672"/>
            <a:ext cx="329184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56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02336"/>
            <a:ext cx="6492240" cy="0"/>
          </a:xfrm>
          <a:prstGeom prst="line">
            <a:avLst/>
          </a:prstGeom>
          <a:noFill/>
          <a:ln w="6985">
            <a:solidFill>
              <a:srgbClr val="D7C7B9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8741664"/>
            <a:ext cx="6492240" cy="0"/>
          </a:xfrm>
          <a:prstGeom prst="line">
            <a:avLst/>
          </a:prstGeom>
          <a:noFill/>
          <a:ln w="6985">
            <a:solidFill>
              <a:srgbClr val="D7C7B9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713232"/>
            <a:ext cx="36576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COMO FUNCIONA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1051560"/>
            <a:ext cx="598932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700" b="1" dirty="0">
                <a:solidFill>
                  <a:srgbClr val="2A21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Processo simples, com escopo claro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85216" y="1965960"/>
            <a:ext cx="58978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20" dirty="0">
                <a:solidFill>
                  <a:srgbClr val="756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evitar retrabalho e manter a entrega profissional desde o primeiro contato.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822960" y="2962656"/>
            <a:ext cx="310896" cy="310896"/>
          </a:xfrm>
          <a:prstGeom prst="ellipse">
            <a:avLst/>
          </a:prstGeom>
          <a:solidFill>
            <a:srgbClr val="9C5A4B"/>
          </a:solidFill>
          <a:ln w="12700">
            <a:solidFill>
              <a:srgbClr val="9C5A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3544" y="3063240"/>
            <a:ext cx="109728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325880" y="2944368"/>
            <a:ext cx="19202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20" b="1" dirty="0">
                <a:solidFill>
                  <a:srgbClr val="2A21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Briefing rápido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1325880" y="3282696"/>
            <a:ext cx="4389120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90" dirty="0">
                <a:solidFill>
                  <a:srgbClr val="756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serviços, logo, cores, contato e referências</a:t>
            </a:r>
            <a:endParaRPr lang="en-US" sz="990" dirty="0"/>
          </a:p>
        </p:txBody>
      </p:sp>
      <p:sp>
        <p:nvSpPr>
          <p:cNvPr id="11" name="Shape 9"/>
          <p:cNvSpPr/>
          <p:nvPr/>
        </p:nvSpPr>
        <p:spPr>
          <a:xfrm>
            <a:off x="822960" y="3904488"/>
            <a:ext cx="310896" cy="310896"/>
          </a:xfrm>
          <a:prstGeom prst="ellipse">
            <a:avLst/>
          </a:prstGeom>
          <a:solidFill>
            <a:srgbClr val="9C5A4B"/>
          </a:solidFill>
          <a:ln w="12700">
            <a:solidFill>
              <a:srgbClr val="9C5A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3544" y="4005072"/>
            <a:ext cx="109728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325880" y="3886200"/>
            <a:ext cx="19202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20" b="1" dirty="0">
                <a:solidFill>
                  <a:srgbClr val="2A21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Primeira versão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1325880" y="4224528"/>
            <a:ext cx="4389120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90" dirty="0">
                <a:solidFill>
                  <a:srgbClr val="756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artes, legendas, roteiros e calendário</a:t>
            </a:r>
            <a:endParaRPr lang="en-US" sz="990" dirty="0"/>
          </a:p>
        </p:txBody>
      </p:sp>
      <p:sp>
        <p:nvSpPr>
          <p:cNvPr id="15" name="Shape 13"/>
          <p:cNvSpPr/>
          <p:nvPr/>
        </p:nvSpPr>
        <p:spPr>
          <a:xfrm>
            <a:off x="822960" y="4846320"/>
            <a:ext cx="310896" cy="310896"/>
          </a:xfrm>
          <a:prstGeom prst="ellipse">
            <a:avLst/>
          </a:prstGeom>
          <a:solidFill>
            <a:srgbClr val="9C5A4B"/>
          </a:solidFill>
          <a:ln w="12700">
            <a:solidFill>
              <a:srgbClr val="9C5A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3544" y="4946904"/>
            <a:ext cx="109728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325880" y="4828032"/>
            <a:ext cx="19202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20" b="1" dirty="0">
                <a:solidFill>
                  <a:srgbClr val="2A21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Ajustes finais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1325880" y="5166360"/>
            <a:ext cx="4389120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90" dirty="0">
                <a:solidFill>
                  <a:srgbClr val="756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uma rodada de alterações incluída</a:t>
            </a:r>
            <a:endParaRPr lang="en-US" sz="990" dirty="0"/>
          </a:p>
        </p:txBody>
      </p:sp>
      <p:sp>
        <p:nvSpPr>
          <p:cNvPr id="19" name="Shape 17"/>
          <p:cNvSpPr/>
          <p:nvPr/>
        </p:nvSpPr>
        <p:spPr>
          <a:xfrm>
            <a:off x="822960" y="5788152"/>
            <a:ext cx="310896" cy="310896"/>
          </a:xfrm>
          <a:prstGeom prst="ellipse">
            <a:avLst/>
          </a:prstGeom>
          <a:solidFill>
            <a:srgbClr val="9C5A4B"/>
          </a:solidFill>
          <a:ln w="12700">
            <a:solidFill>
              <a:srgbClr val="9C5A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" y="5888736"/>
            <a:ext cx="109728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325880" y="5769864"/>
            <a:ext cx="19202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20" b="1" dirty="0">
                <a:solidFill>
                  <a:srgbClr val="2A21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 editável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1325880" y="6108192"/>
            <a:ext cx="4389120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90" dirty="0">
                <a:solidFill>
                  <a:srgbClr val="756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arquivos no Canva e textos prontos</a:t>
            </a:r>
            <a:endParaRPr lang="en-US" sz="990" dirty="0"/>
          </a:p>
        </p:txBody>
      </p:sp>
      <p:sp>
        <p:nvSpPr>
          <p:cNvPr id="23" name="Shape 21"/>
          <p:cNvSpPr/>
          <p:nvPr/>
        </p:nvSpPr>
        <p:spPr>
          <a:xfrm>
            <a:off x="658368" y="6949440"/>
            <a:ext cx="5989320" cy="749808"/>
          </a:xfrm>
          <a:prstGeom prst="roundRect">
            <a:avLst>
              <a:gd name="adj" fmla="val 9756"/>
            </a:avLst>
          </a:prstGeom>
          <a:solidFill>
            <a:srgbClr val="FFFDF8"/>
          </a:solidFill>
          <a:ln w="10160">
            <a:solidFill>
              <a:srgbClr val="D7C7B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2688" y="7232904"/>
            <a:ext cx="54406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2A21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Escopo protegido: não inclui criação de logotipo, anúncios pagos ou promessas irreais de resultado.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457200" y="8805672"/>
            <a:ext cx="192024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56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Victor Takayama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6565392" y="8805672"/>
            <a:ext cx="329184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56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D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02336"/>
            <a:ext cx="6492240" cy="0"/>
          </a:xfrm>
          <a:prstGeom prst="line">
            <a:avLst/>
          </a:prstGeom>
          <a:noFill/>
          <a:ln w="6985">
            <a:solidFill>
              <a:srgbClr val="5B4D47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8741664"/>
            <a:ext cx="6492240" cy="0"/>
          </a:xfrm>
          <a:prstGeom prst="line">
            <a:avLst/>
          </a:prstGeom>
          <a:noFill/>
          <a:ln w="6985">
            <a:solidFill>
              <a:srgbClr val="5B4D47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713232"/>
            <a:ext cx="36576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3D7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PRÓXIMO PASSO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1051560"/>
            <a:ext cx="598932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Vamos organizar o conteúdo do seu Instagram?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85216" y="1965960"/>
            <a:ext cx="58978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20" dirty="0">
                <a:solidFill>
                  <a:srgbClr val="E7DA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Você envia as informações. Eu preparo a primeira versão em até 24h após o briefing completo e apresento para aprovação.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731520" y="3090672"/>
            <a:ext cx="228600" cy="228600"/>
          </a:xfrm>
          <a:prstGeom prst="ellipse">
            <a:avLst/>
          </a:prstGeom>
          <a:solidFill>
            <a:srgbClr val="B38656"/>
          </a:solidFill>
          <a:ln w="12700">
            <a:solidFill>
              <a:srgbClr val="B386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" y="3159252"/>
            <a:ext cx="128016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630" dirty="0"/>
          </a:p>
        </p:txBody>
      </p:sp>
      <p:sp>
        <p:nvSpPr>
          <p:cNvPr id="9" name="Text 7"/>
          <p:cNvSpPr/>
          <p:nvPr/>
        </p:nvSpPr>
        <p:spPr>
          <a:xfrm>
            <a:off x="1078992" y="3063240"/>
            <a:ext cx="440740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10" dirty="0">
                <a:solidFill>
                  <a:srgbClr val="E7DA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Pacote Conteúdo Express: R$ 147</a:t>
            </a:r>
            <a:endParaRPr lang="en-US" sz="1110" dirty="0"/>
          </a:p>
        </p:txBody>
      </p:sp>
      <p:sp>
        <p:nvSpPr>
          <p:cNvPr id="10" name="Shape 8"/>
          <p:cNvSpPr/>
          <p:nvPr/>
        </p:nvSpPr>
        <p:spPr>
          <a:xfrm>
            <a:off x="731520" y="3547872"/>
            <a:ext cx="228600" cy="228600"/>
          </a:xfrm>
          <a:prstGeom prst="ellipse">
            <a:avLst/>
          </a:prstGeom>
          <a:solidFill>
            <a:srgbClr val="B38656"/>
          </a:solidFill>
          <a:ln w="12700">
            <a:solidFill>
              <a:srgbClr val="B386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1812" y="3616452"/>
            <a:ext cx="128016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630" dirty="0"/>
          </a:p>
        </p:txBody>
      </p:sp>
      <p:sp>
        <p:nvSpPr>
          <p:cNvPr id="12" name="Text 10"/>
          <p:cNvSpPr/>
          <p:nvPr/>
        </p:nvSpPr>
        <p:spPr>
          <a:xfrm>
            <a:off x="1078992" y="3520440"/>
            <a:ext cx="440740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10" dirty="0">
                <a:solidFill>
                  <a:srgbClr val="E7DA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50% para iniciar e 50% na entrega</a:t>
            </a:r>
            <a:endParaRPr lang="en-US" sz="1110" dirty="0"/>
          </a:p>
        </p:txBody>
      </p:sp>
      <p:sp>
        <p:nvSpPr>
          <p:cNvPr id="13" name="Shape 11"/>
          <p:cNvSpPr/>
          <p:nvPr/>
        </p:nvSpPr>
        <p:spPr>
          <a:xfrm>
            <a:off x="731520" y="4005072"/>
            <a:ext cx="228600" cy="228600"/>
          </a:xfrm>
          <a:prstGeom prst="ellipse">
            <a:avLst/>
          </a:prstGeom>
          <a:solidFill>
            <a:srgbClr val="B38656"/>
          </a:solidFill>
          <a:ln w="12700">
            <a:solidFill>
              <a:srgbClr val="B386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1812" y="4073652"/>
            <a:ext cx="128016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630" dirty="0"/>
          </a:p>
        </p:txBody>
      </p:sp>
      <p:sp>
        <p:nvSpPr>
          <p:cNvPr id="15" name="Text 13"/>
          <p:cNvSpPr/>
          <p:nvPr/>
        </p:nvSpPr>
        <p:spPr>
          <a:xfrm>
            <a:off x="1078992" y="3977640"/>
            <a:ext cx="459028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10" dirty="0">
                <a:solidFill>
                  <a:srgbClr val="E7DA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artes, 6 legendas, 3 roteiros e calendário</a:t>
            </a:r>
            <a:endParaRPr lang="en-US" sz="1110" dirty="0"/>
          </a:p>
        </p:txBody>
      </p:sp>
      <p:sp>
        <p:nvSpPr>
          <p:cNvPr id="16" name="Shape 14"/>
          <p:cNvSpPr/>
          <p:nvPr/>
        </p:nvSpPr>
        <p:spPr>
          <a:xfrm>
            <a:off x="960120" y="5285232"/>
            <a:ext cx="5394960" cy="2176272"/>
          </a:xfrm>
          <a:prstGeom prst="roundRect">
            <a:avLst>
              <a:gd name="adj" fmla="val 4202"/>
            </a:avLst>
          </a:prstGeom>
          <a:solidFill>
            <a:srgbClr val="FFF7EF"/>
          </a:solidFill>
          <a:ln w="10160">
            <a:solidFill>
              <a:srgbClr val="FFF7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25880" y="5724144"/>
            <a:ext cx="46634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2A21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Victor Takayama | Conteúdo Digital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1325880" y="6181344"/>
            <a:ext cx="466344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WhatsApp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325880" y="6510528"/>
            <a:ext cx="46634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50" b="1" dirty="0">
                <a:solidFill>
                  <a:srgbClr val="2A21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(11) 95858-5228</a:t>
            </a:r>
            <a:endParaRPr lang="en-US" sz="2350" dirty="0"/>
          </a:p>
        </p:txBody>
      </p:sp>
      <p:sp>
        <p:nvSpPr>
          <p:cNvPr id="20" name="Shape 18"/>
          <p:cNvSpPr/>
          <p:nvPr/>
        </p:nvSpPr>
        <p:spPr>
          <a:xfrm>
            <a:off x="2514600" y="7022592"/>
            <a:ext cx="2286000" cy="347472"/>
          </a:xfrm>
          <a:prstGeom prst="roundRect">
            <a:avLst>
              <a:gd name="adj" fmla="val 21053"/>
            </a:avLst>
          </a:prstGeom>
          <a:solidFill>
            <a:srgbClr val="9C5A4B"/>
          </a:solidFill>
          <a:ln w="12700">
            <a:solidFill>
              <a:srgbClr val="9C5A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24328" y="7132320"/>
            <a:ext cx="206654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Chamar no WhatsApp</a:t>
            </a:r>
            <a:endParaRPr lang="en-US" sz="760" dirty="0"/>
          </a:p>
        </p:txBody>
      </p:sp>
      <p:sp>
        <p:nvSpPr>
          <p:cNvPr id="22" name="Text 20"/>
          <p:cNvSpPr/>
          <p:nvPr/>
        </p:nvSpPr>
        <p:spPr>
          <a:xfrm>
            <a:off x="457200" y="8805672"/>
            <a:ext cx="192024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A99B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Victor Takayama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6565392" y="8805672"/>
            <a:ext cx="329184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A99B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Victor Takayama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Portfólio Conteúdo Beleza - Victor Takayama - Revisado</dc:title>
  <dc:subject>Portfólio premium demonstrativo para negócios de beleza</dc:subject>
  <dc:creator>Victor Takayama | Conteúdo Digital</dc:creator>
  <cp:lastModifiedBy>Victor Takayama | Conteúdo Digital</cp:lastModifiedBy>
  <cp:revision>1</cp:revision>
  <dcterms:created xsi:type="dcterms:W3CDTF">2026-07-30T22:32:19Z</dcterms:created>
  <dcterms:modified xsi:type="dcterms:W3CDTF">2026-07-30T22:32:19Z</dcterms:modified>
</cp:coreProperties>
</file>
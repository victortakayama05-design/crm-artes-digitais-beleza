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7315200" cy="9144000"/>
  <p:notesSz cx="9144000" cy="7315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6492240" cy="0"/>
          </a:xfrm>
          <a:prstGeom prst="line">
            <a:avLst/>
          </a:prstGeom>
          <a:noFill/>
          <a:ln w="6985">
            <a:solidFill>
              <a:srgbClr val="D7C7B9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8732520"/>
            <a:ext cx="6492240" cy="0"/>
          </a:xfrm>
          <a:prstGeom prst="line">
            <a:avLst/>
          </a:prstGeom>
          <a:noFill/>
          <a:ln w="6985">
            <a:solidFill>
              <a:srgbClr val="D7C7B9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00" cy="2834640"/>
          </a:xfrm>
          <a:prstGeom prst="rect">
            <a:avLst/>
          </a:prstGeom>
          <a:solidFill>
            <a:srgbClr val="2D231F"/>
          </a:solidFill>
          <a:ln w="12700">
            <a:solidFill>
              <a:srgbClr val="2D23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94944"/>
            <a:ext cx="37490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60" b="1" dirty="0">
                <a:solidFill>
                  <a:srgbClr val="F3D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PORTFÓLIO DEMONSTRATIVO</a:t>
            </a:r>
            <a:endParaRPr lang="en-US" sz="760" dirty="0"/>
          </a:p>
        </p:txBody>
      </p:sp>
      <p:sp>
        <p:nvSpPr>
          <p:cNvPr id="6" name="Text 4"/>
          <p:cNvSpPr/>
          <p:nvPr/>
        </p:nvSpPr>
        <p:spPr>
          <a:xfrm>
            <a:off x="566928" y="1078992"/>
            <a:ext cx="49834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Conteúdo digital para negócios de beleza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85216" y="2176272"/>
            <a:ext cx="52120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E9DC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Posts, legendas e roteiros para transformar um Instagram improvisado em uma presença mais profissional, ativa e fácil de aprovar.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" y="3429000"/>
            <a:ext cx="2057400" cy="3611880"/>
          </a:xfrm>
          <a:prstGeom prst="roundRect">
            <a:avLst>
              <a:gd name="adj" fmla="val 6667"/>
            </a:avLst>
          </a:prstGeom>
          <a:solidFill>
            <a:srgbClr val="FFFDF8"/>
          </a:solidFill>
          <a:ln w="12700">
            <a:solidFill>
              <a:srgbClr val="CAB9A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502152"/>
            <a:ext cx="1911096" cy="3465576"/>
          </a:xfrm>
          <a:prstGeom prst="roundRect">
            <a:avLst>
              <a:gd name="adj" fmla="val 5742"/>
            </a:avLst>
          </a:prstGeom>
          <a:solidFill>
            <a:srgbClr val="FFF8F1"/>
          </a:solidFill>
          <a:ln w="12700">
            <a:solidFill>
              <a:srgbClr val="FFF8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3685032"/>
            <a:ext cx="16916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30" b="1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Studio Aurora</a:t>
            </a:r>
            <a:endParaRPr lang="en-US" sz="730" dirty="0"/>
          </a:p>
        </p:txBody>
      </p:sp>
      <p:sp>
        <p:nvSpPr>
          <p:cNvPr id="11" name="Text 9"/>
          <p:cNvSpPr/>
          <p:nvPr/>
        </p:nvSpPr>
        <p:spPr>
          <a:xfrm>
            <a:off x="841248" y="3886200"/>
            <a:ext cx="169164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59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estética facial</a:t>
            </a:r>
            <a:endParaRPr lang="en-US" sz="590" dirty="0"/>
          </a:p>
        </p:txBody>
      </p:sp>
      <p:sp>
        <p:nvSpPr>
          <p:cNvPr id="12" name="Shape 10"/>
          <p:cNvSpPr/>
          <p:nvPr/>
        </p:nvSpPr>
        <p:spPr>
          <a:xfrm>
            <a:off x="868680" y="4178808"/>
            <a:ext cx="509016" cy="509016"/>
          </a:xfrm>
          <a:prstGeom prst="rect">
            <a:avLst/>
          </a:prstGeom>
          <a:solidFill>
            <a:srgbClr val="EAD7C4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32560" y="4178808"/>
            <a:ext cx="509016" cy="509016"/>
          </a:xfrm>
          <a:prstGeom prst="rect">
            <a:avLst/>
          </a:prstGeom>
          <a:solidFill>
            <a:srgbClr val="DDB6A8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96440" y="4178808"/>
            <a:ext cx="509016" cy="509016"/>
          </a:xfrm>
          <a:prstGeom prst="rect">
            <a:avLst/>
          </a:prstGeom>
          <a:solidFill>
            <a:srgbClr val="F7F0E6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742688"/>
            <a:ext cx="509016" cy="509016"/>
          </a:xfrm>
          <a:prstGeom prst="rect">
            <a:avLst/>
          </a:prstGeom>
          <a:solidFill>
            <a:srgbClr val="B38656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32560" y="4742688"/>
            <a:ext cx="509016" cy="509016"/>
          </a:xfrm>
          <a:prstGeom prst="rect">
            <a:avLst/>
          </a:prstGeom>
          <a:solidFill>
            <a:srgbClr val="EAD7C4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96440" y="4742688"/>
            <a:ext cx="509016" cy="509016"/>
          </a:xfrm>
          <a:prstGeom prst="rect">
            <a:avLst/>
          </a:prstGeom>
          <a:solidFill>
            <a:srgbClr val="DDB6A8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5306568"/>
            <a:ext cx="509016" cy="509016"/>
          </a:xfrm>
          <a:prstGeom prst="rect">
            <a:avLst/>
          </a:prstGeom>
          <a:solidFill>
            <a:srgbClr val="F7F0E6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32560" y="5306568"/>
            <a:ext cx="509016" cy="509016"/>
          </a:xfrm>
          <a:prstGeom prst="rect">
            <a:avLst/>
          </a:prstGeom>
          <a:solidFill>
            <a:srgbClr val="B38656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96440" y="5306568"/>
            <a:ext cx="509016" cy="509016"/>
          </a:xfrm>
          <a:prstGeom prst="rect">
            <a:avLst/>
          </a:prstGeom>
          <a:solidFill>
            <a:srgbClr val="EAD7C4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6702552"/>
            <a:ext cx="169164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53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 com padrão + CTA</a:t>
            </a:r>
            <a:endParaRPr lang="en-US" sz="530" dirty="0"/>
          </a:p>
        </p:txBody>
      </p:sp>
      <p:sp>
        <p:nvSpPr>
          <p:cNvPr id="22" name="Shape 20"/>
          <p:cNvSpPr/>
          <p:nvPr/>
        </p:nvSpPr>
        <p:spPr>
          <a:xfrm>
            <a:off x="3063240" y="3401568"/>
            <a:ext cx="1600200" cy="1600200"/>
          </a:xfrm>
          <a:prstGeom prst="roundRect">
            <a:avLst>
              <a:gd name="adj" fmla="val 4571"/>
            </a:avLst>
          </a:prstGeom>
          <a:solidFill>
            <a:srgbClr val="F8F0E8"/>
          </a:solidFill>
          <a:ln w="10160">
            <a:solidFill>
              <a:srgbClr val="E2CEC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27832" y="3566160"/>
            <a:ext cx="1271016" cy="1271016"/>
          </a:xfrm>
          <a:prstGeom prst="rect">
            <a:avLst/>
          </a:prstGeom>
          <a:solidFill>
            <a:srgbClr val="FFF8F1"/>
          </a:solidFill>
          <a:ln w="12700">
            <a:solidFill>
              <a:srgbClr val="FFF8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19272" y="3712464"/>
            <a:ext cx="108813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20" b="1" dirty="0">
                <a:solidFill>
                  <a:srgbClr val="B38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AURA PELE</a:t>
            </a:r>
            <a:endParaRPr lang="en-US" sz="620" dirty="0"/>
          </a:p>
        </p:txBody>
      </p:sp>
      <p:sp>
        <p:nvSpPr>
          <p:cNvPr id="25" name="Shape 23"/>
          <p:cNvSpPr/>
          <p:nvPr/>
        </p:nvSpPr>
        <p:spPr>
          <a:xfrm>
            <a:off x="3392424" y="3986784"/>
            <a:ext cx="941832" cy="0"/>
          </a:xfrm>
          <a:prstGeom prst="line">
            <a:avLst/>
          </a:prstGeom>
          <a:noFill/>
          <a:ln w="10160">
            <a:solidFill>
              <a:srgbClr val="B3865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4206240"/>
            <a:ext cx="10515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84000"/>
              </a:lnSpc>
              <a:buNone/>
            </a:pPr>
            <a:r>
              <a:rPr lang="en-US" sz="1300" b="1" dirty="0">
                <a:solidFill>
                  <a:srgbClr val="2D23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Pele cuidada sem excesso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37560" y="4581144"/>
            <a:ext cx="10515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90" dirty="0">
                <a:solidFill>
                  <a:srgbClr val="2D23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avaliação aberta</a:t>
            </a:r>
            <a:endParaRPr lang="en-US" sz="690" dirty="0"/>
          </a:p>
        </p:txBody>
      </p:sp>
      <p:sp>
        <p:nvSpPr>
          <p:cNvPr id="28" name="Shape 26"/>
          <p:cNvSpPr/>
          <p:nvPr/>
        </p:nvSpPr>
        <p:spPr>
          <a:xfrm>
            <a:off x="3840480" y="5276088"/>
            <a:ext cx="1600200" cy="1600200"/>
          </a:xfrm>
          <a:prstGeom prst="roundRect">
            <a:avLst>
              <a:gd name="adj" fmla="val 4571"/>
            </a:avLst>
          </a:prstGeom>
          <a:solidFill>
            <a:srgbClr val="FFF4F7"/>
          </a:solidFill>
          <a:ln w="10160">
            <a:solidFill>
              <a:srgbClr val="F1C9D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5440680"/>
            <a:ext cx="384048" cy="384048"/>
          </a:xfrm>
          <a:prstGeom prst="ellipse">
            <a:avLst/>
          </a:prstGeom>
          <a:solidFill>
            <a:srgbClr val="A5D9C7"/>
          </a:solidFill>
          <a:ln w="12700">
            <a:solidFill>
              <a:srgbClr val="A5D9C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05072" y="6281928"/>
            <a:ext cx="438912" cy="438912"/>
          </a:xfrm>
          <a:prstGeom prst="ellipse">
            <a:avLst/>
          </a:prstGeom>
          <a:solidFill>
            <a:srgbClr val="F3D579"/>
          </a:solidFill>
          <a:ln w="12700">
            <a:solidFill>
              <a:srgbClr val="F3D57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69080" y="5532120"/>
            <a:ext cx="1143000" cy="91440"/>
          </a:xfrm>
          <a:prstGeom prst="rect">
            <a:avLst/>
          </a:prstGeom>
          <a:solidFill>
            <a:srgbClr val="F08173"/>
          </a:solidFill>
          <a:ln w="12700">
            <a:solidFill>
              <a:srgbClr val="F0817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96512" y="5788152"/>
            <a:ext cx="108813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20" b="1" dirty="0">
                <a:solidFill>
                  <a:srgbClr val="F08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LUNA NAILS</a:t>
            </a:r>
            <a:endParaRPr lang="en-US" sz="620" dirty="0"/>
          </a:p>
        </p:txBody>
      </p:sp>
      <p:sp>
        <p:nvSpPr>
          <p:cNvPr id="33" name="Text 31"/>
          <p:cNvSpPr/>
          <p:nvPr/>
        </p:nvSpPr>
        <p:spPr>
          <a:xfrm>
            <a:off x="4133088" y="6044184"/>
            <a:ext cx="101498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84000"/>
              </a:lnSpc>
              <a:buNone/>
            </a:pPr>
            <a:r>
              <a:rPr lang="en-US" sz="1400" b="1" dirty="0">
                <a:solidFill>
                  <a:srgbClr val="3122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Unhas da semana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160520" y="6419088"/>
            <a:ext cx="960120" cy="347472"/>
          </a:xfrm>
          <a:prstGeom prst="roundRect">
            <a:avLst>
              <a:gd name="adj" fmla="val 21053"/>
            </a:avLst>
          </a:prstGeom>
          <a:solidFill>
            <a:srgbClr val="F08173"/>
          </a:solidFill>
          <a:ln w="12700">
            <a:solidFill>
              <a:srgbClr val="F0817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70248" y="6505956"/>
            <a:ext cx="740664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 horários</a:t>
            </a:r>
            <a:endParaRPr lang="en-US" sz="760" dirty="0"/>
          </a:p>
        </p:txBody>
      </p:sp>
      <p:sp>
        <p:nvSpPr>
          <p:cNvPr id="36" name="Shape 34"/>
          <p:cNvSpPr/>
          <p:nvPr/>
        </p:nvSpPr>
        <p:spPr>
          <a:xfrm>
            <a:off x="4846320" y="4142232"/>
            <a:ext cx="1600200" cy="1600200"/>
          </a:xfrm>
          <a:prstGeom prst="roundRect">
            <a:avLst>
              <a:gd name="adj" fmla="val 4571"/>
            </a:avLst>
          </a:prstGeom>
          <a:solidFill>
            <a:srgbClr val="F0E9DF"/>
          </a:solidFill>
          <a:ln w="10160">
            <a:solidFill>
              <a:srgbClr val="473C3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92624" y="4288536"/>
            <a:ext cx="1307592" cy="1307592"/>
          </a:xfrm>
          <a:prstGeom prst="rect">
            <a:avLst/>
          </a:prstGeom>
          <a:solidFill>
            <a:srgbClr val="171413"/>
          </a:solidFill>
          <a:ln w="12700">
            <a:solidFill>
              <a:srgbClr val="17141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166360" y="4581144"/>
            <a:ext cx="960120" cy="0"/>
          </a:xfrm>
          <a:prstGeom prst="line">
            <a:avLst/>
          </a:prstGeom>
          <a:noFill/>
          <a:ln w="10160">
            <a:solidFill>
              <a:srgbClr val="B3865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74920" y="4764024"/>
            <a:ext cx="114300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590" b="1" dirty="0">
                <a:solidFill>
                  <a:srgbClr val="B38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MAISON BROWS</a:t>
            </a:r>
            <a:endParaRPr lang="en-US" sz="590" dirty="0"/>
          </a:p>
        </p:txBody>
      </p:sp>
      <p:sp>
        <p:nvSpPr>
          <p:cNvPr id="40" name="Text 38"/>
          <p:cNvSpPr/>
          <p:nvPr/>
        </p:nvSpPr>
        <p:spPr>
          <a:xfrm>
            <a:off x="5102352" y="5001768"/>
            <a:ext cx="108813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127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Sobrancelhas com presença</a:t>
            </a:r>
            <a:endParaRPr lang="en-US" sz="1270" dirty="0"/>
          </a:p>
        </p:txBody>
      </p:sp>
      <p:sp>
        <p:nvSpPr>
          <p:cNvPr id="41" name="Text 39"/>
          <p:cNvSpPr/>
          <p:nvPr/>
        </p:nvSpPr>
        <p:spPr>
          <a:xfrm>
            <a:off x="5102352" y="5358384"/>
            <a:ext cx="108813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4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reservas abertas</a:t>
            </a:r>
            <a:endParaRPr lang="en-US" sz="640" dirty="0"/>
          </a:p>
        </p:txBody>
      </p:sp>
      <p:sp>
        <p:nvSpPr>
          <p:cNvPr id="42" name="Shape 40"/>
          <p:cNvSpPr/>
          <p:nvPr/>
        </p:nvSpPr>
        <p:spPr>
          <a:xfrm>
            <a:off x="713232" y="7589520"/>
            <a:ext cx="4709160" cy="347472"/>
          </a:xfrm>
          <a:prstGeom prst="roundRect">
            <a:avLst>
              <a:gd name="adj" fmla="val 21053"/>
            </a:avLst>
          </a:prstGeom>
          <a:solidFill>
            <a:srgbClr val="9C5A4B"/>
          </a:solidFill>
          <a:ln w="12700">
            <a:solidFill>
              <a:srgbClr val="9C5A4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" y="7676388"/>
            <a:ext cx="4489704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Pacote teste - primeira versão em até 24h após briefing</a:t>
            </a:r>
            <a:endParaRPr lang="en-US" sz="760" dirty="0"/>
          </a:p>
        </p:txBody>
      </p:sp>
      <p:sp>
        <p:nvSpPr>
          <p:cNvPr id="44" name="Text 42"/>
          <p:cNvSpPr/>
          <p:nvPr/>
        </p:nvSpPr>
        <p:spPr>
          <a:xfrm>
            <a:off x="713232" y="8156448"/>
            <a:ext cx="32918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80" b="1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Victor Takayama | Conteúdo Digital</a:t>
            </a:r>
            <a:endParaRPr lang="en-US" sz="980" dirty="0"/>
          </a:p>
        </p:txBody>
      </p:sp>
      <p:sp>
        <p:nvSpPr>
          <p:cNvPr id="45" name="Text 43"/>
          <p:cNvSpPr/>
          <p:nvPr/>
        </p:nvSpPr>
        <p:spPr>
          <a:xfrm>
            <a:off x="713232" y="8385048"/>
            <a:ext cx="251460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3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WhatsApp: (11) 95858-5228</a:t>
            </a:r>
            <a:endParaRPr lang="en-US" sz="930" dirty="0"/>
          </a:p>
        </p:txBody>
      </p:sp>
      <p:sp>
        <p:nvSpPr>
          <p:cNvPr id="46" name="Text 44"/>
          <p:cNvSpPr/>
          <p:nvPr/>
        </p:nvSpPr>
        <p:spPr>
          <a:xfrm>
            <a:off x="457200" y="8796528"/>
            <a:ext cx="192024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5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Victor Takayama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583680" y="8796528"/>
            <a:ext cx="292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65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6492240" cy="0"/>
          </a:xfrm>
          <a:prstGeom prst="line">
            <a:avLst/>
          </a:prstGeom>
          <a:noFill/>
          <a:ln w="6985">
            <a:solidFill>
              <a:srgbClr val="D7C7B9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8732520"/>
            <a:ext cx="6492240" cy="0"/>
          </a:xfrm>
          <a:prstGeom prst="line">
            <a:avLst/>
          </a:prstGeom>
          <a:noFill/>
          <a:ln w="6985">
            <a:solidFill>
              <a:srgbClr val="D7C7B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713232"/>
            <a:ext cx="37490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6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DIAGNÓSTICO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566928" y="1060704"/>
            <a:ext cx="59436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2700" b="1" dirty="0">
                <a:solidFill>
                  <a:srgbClr val="2A21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problema que eu resolvo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85216" y="1901952"/>
            <a:ext cx="58521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serviço não é “fazer arte bonita”. É criar uma base de comunicação para o cliente olhar o perfil e entender o que você oferece.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8368" y="2816352"/>
            <a:ext cx="91440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58368" y="3127248"/>
            <a:ext cx="566928" cy="566928"/>
          </a:xfrm>
          <a:prstGeom prst="rect">
            <a:avLst/>
          </a:prstGeom>
          <a:solidFill>
            <a:srgbClr val="CFCFC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16736" y="3127248"/>
            <a:ext cx="566928" cy="566928"/>
          </a:xfrm>
          <a:prstGeom prst="rect">
            <a:avLst/>
          </a:prstGeom>
          <a:solidFill>
            <a:srgbClr val="E5E5E5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75104" y="3127248"/>
            <a:ext cx="566928" cy="566928"/>
          </a:xfrm>
          <a:prstGeom prst="rect">
            <a:avLst/>
          </a:prstGeom>
          <a:solidFill>
            <a:srgbClr val="BDBDBD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3785616"/>
            <a:ext cx="566928" cy="566928"/>
          </a:xfrm>
          <a:prstGeom prst="rect">
            <a:avLst/>
          </a:prstGeom>
          <a:solidFill>
            <a:srgbClr val="222222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16736" y="3785616"/>
            <a:ext cx="566928" cy="566928"/>
          </a:xfrm>
          <a:prstGeom prst="rect">
            <a:avLst/>
          </a:prstGeom>
          <a:solidFill>
            <a:srgbClr val="CFCFC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75104" y="3785616"/>
            <a:ext cx="566928" cy="566928"/>
          </a:xfrm>
          <a:prstGeom prst="rect">
            <a:avLst/>
          </a:prstGeom>
          <a:solidFill>
            <a:srgbClr val="E5E5E5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71800" y="3044952"/>
            <a:ext cx="210312" cy="210312"/>
          </a:xfrm>
          <a:prstGeom prst="ellipse">
            <a:avLst/>
          </a:prstGeom>
          <a:solidFill>
            <a:srgbClr val="9C5A4B"/>
          </a:solidFill>
          <a:ln w="12700">
            <a:solidFill>
              <a:srgbClr val="9C5A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3099816"/>
            <a:ext cx="109728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5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580" dirty="0"/>
          </a:p>
        </p:txBody>
      </p:sp>
      <p:sp>
        <p:nvSpPr>
          <p:cNvPr id="16" name="Text 14"/>
          <p:cNvSpPr/>
          <p:nvPr/>
        </p:nvSpPr>
        <p:spPr>
          <a:xfrm>
            <a:off x="3282696" y="3035808"/>
            <a:ext cx="298094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30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 sem padrão visual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2971800" y="3465576"/>
            <a:ext cx="210312" cy="210312"/>
          </a:xfrm>
          <a:prstGeom prst="ellipse">
            <a:avLst/>
          </a:prstGeom>
          <a:solidFill>
            <a:srgbClr val="9C5A4B"/>
          </a:solidFill>
          <a:ln w="12700">
            <a:solidFill>
              <a:srgbClr val="9C5A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0" y="3520440"/>
            <a:ext cx="109728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5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580" dirty="0"/>
          </a:p>
        </p:txBody>
      </p:sp>
      <p:sp>
        <p:nvSpPr>
          <p:cNvPr id="19" name="Text 17"/>
          <p:cNvSpPr/>
          <p:nvPr/>
        </p:nvSpPr>
        <p:spPr>
          <a:xfrm>
            <a:off x="3282696" y="3456432"/>
            <a:ext cx="298094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30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Legenda sem chamada para conversa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2971800" y="3886200"/>
            <a:ext cx="210312" cy="210312"/>
          </a:xfrm>
          <a:prstGeom prst="ellipse">
            <a:avLst/>
          </a:prstGeom>
          <a:solidFill>
            <a:srgbClr val="9C5A4B"/>
          </a:solidFill>
          <a:ln w="12700">
            <a:solidFill>
              <a:srgbClr val="9C5A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0" y="3941064"/>
            <a:ext cx="109728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5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580" dirty="0"/>
          </a:p>
        </p:txBody>
      </p:sp>
      <p:sp>
        <p:nvSpPr>
          <p:cNvPr id="22" name="Text 20"/>
          <p:cNvSpPr/>
          <p:nvPr/>
        </p:nvSpPr>
        <p:spPr>
          <a:xfrm>
            <a:off x="3282696" y="3877056"/>
            <a:ext cx="298094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30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Publicações soltas, sem sequência</a:t>
            </a:r>
            <a:endParaRPr lang="en-US" sz="1130" dirty="0"/>
          </a:p>
        </p:txBody>
      </p:sp>
      <p:sp>
        <p:nvSpPr>
          <p:cNvPr id="23" name="Shape 21"/>
          <p:cNvSpPr/>
          <p:nvPr/>
        </p:nvSpPr>
        <p:spPr>
          <a:xfrm>
            <a:off x="731520" y="4736592"/>
            <a:ext cx="5852160" cy="0"/>
          </a:xfrm>
          <a:prstGeom prst="line">
            <a:avLst/>
          </a:prstGeom>
          <a:noFill/>
          <a:ln w="10160">
            <a:solidFill>
              <a:srgbClr val="D7C7B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5230368"/>
            <a:ext cx="91440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667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DEPOIS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58368" y="5596128"/>
            <a:ext cx="1481328" cy="2359152"/>
          </a:xfrm>
          <a:prstGeom prst="roundRect">
            <a:avLst>
              <a:gd name="adj" fmla="val 9259"/>
            </a:avLst>
          </a:prstGeom>
          <a:solidFill>
            <a:srgbClr val="FFFDF8"/>
          </a:solidFill>
          <a:ln w="12700">
            <a:solidFill>
              <a:srgbClr val="CAB9A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5669280"/>
            <a:ext cx="1335024" cy="2212848"/>
          </a:xfrm>
          <a:prstGeom prst="roundRect">
            <a:avLst>
              <a:gd name="adj" fmla="val 8219"/>
            </a:avLst>
          </a:prstGeom>
          <a:solidFill>
            <a:srgbClr val="FFF8F1"/>
          </a:solidFill>
          <a:ln w="12700">
            <a:solidFill>
              <a:srgbClr val="FFF8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" y="5852160"/>
            <a:ext cx="111556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30" b="1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Aura Pele</a:t>
            </a:r>
            <a:endParaRPr lang="en-US" sz="730" dirty="0"/>
          </a:p>
        </p:txBody>
      </p:sp>
      <p:sp>
        <p:nvSpPr>
          <p:cNvPr id="28" name="Text 26"/>
          <p:cNvSpPr/>
          <p:nvPr/>
        </p:nvSpPr>
        <p:spPr>
          <a:xfrm>
            <a:off x="841248" y="6053328"/>
            <a:ext cx="1115568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59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perfil ativo</a:t>
            </a:r>
            <a:endParaRPr lang="en-US" sz="590" dirty="0"/>
          </a:p>
        </p:txBody>
      </p:sp>
      <p:sp>
        <p:nvSpPr>
          <p:cNvPr id="29" name="Shape 27"/>
          <p:cNvSpPr/>
          <p:nvPr/>
        </p:nvSpPr>
        <p:spPr>
          <a:xfrm>
            <a:off x="868680" y="6345936"/>
            <a:ext cx="316992" cy="316992"/>
          </a:xfrm>
          <a:prstGeom prst="rect">
            <a:avLst/>
          </a:prstGeom>
          <a:solidFill>
            <a:srgbClr val="B38656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40536" y="6345936"/>
            <a:ext cx="316992" cy="316992"/>
          </a:xfrm>
          <a:prstGeom prst="rect">
            <a:avLst/>
          </a:prstGeom>
          <a:solidFill>
            <a:srgbClr val="EAD7C4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12392" y="6345936"/>
            <a:ext cx="316992" cy="316992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8680" y="6717792"/>
            <a:ext cx="316992" cy="316992"/>
          </a:xfrm>
          <a:prstGeom prst="rect">
            <a:avLst/>
          </a:prstGeom>
          <a:solidFill>
            <a:srgbClr val="DDB6A8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40536" y="6717792"/>
            <a:ext cx="316992" cy="316992"/>
          </a:xfrm>
          <a:prstGeom prst="rect">
            <a:avLst/>
          </a:prstGeom>
          <a:solidFill>
            <a:srgbClr val="B38656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612392" y="6717792"/>
            <a:ext cx="316992" cy="316992"/>
          </a:xfrm>
          <a:prstGeom prst="rect">
            <a:avLst/>
          </a:prstGeom>
          <a:solidFill>
            <a:srgbClr val="EAD7C4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68680" y="7089648"/>
            <a:ext cx="316992" cy="316992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40536" y="7089648"/>
            <a:ext cx="316992" cy="316992"/>
          </a:xfrm>
          <a:prstGeom prst="rect">
            <a:avLst/>
          </a:prstGeom>
          <a:solidFill>
            <a:srgbClr val="DDB6A8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612392" y="7089648"/>
            <a:ext cx="316992" cy="316992"/>
          </a:xfrm>
          <a:prstGeom prst="rect">
            <a:avLst/>
          </a:prstGeom>
          <a:solidFill>
            <a:srgbClr val="B38656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1248" y="7616952"/>
            <a:ext cx="111556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53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 com padrão + CTA</a:t>
            </a:r>
            <a:endParaRPr lang="en-US" sz="530" dirty="0"/>
          </a:p>
        </p:txBody>
      </p:sp>
      <p:sp>
        <p:nvSpPr>
          <p:cNvPr id="39" name="Shape 37"/>
          <p:cNvSpPr/>
          <p:nvPr/>
        </p:nvSpPr>
        <p:spPr>
          <a:xfrm>
            <a:off x="2971800" y="5678424"/>
            <a:ext cx="210312" cy="210312"/>
          </a:xfrm>
          <a:prstGeom prst="ellipse">
            <a:avLst/>
          </a:prstGeom>
          <a:solidFill>
            <a:srgbClr val="66725F"/>
          </a:solidFill>
          <a:ln w="12700">
            <a:solidFill>
              <a:srgbClr val="6672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17520" y="5733288"/>
            <a:ext cx="109728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5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580" dirty="0"/>
          </a:p>
        </p:txBody>
      </p:sp>
      <p:sp>
        <p:nvSpPr>
          <p:cNvPr id="41" name="Text 39"/>
          <p:cNvSpPr/>
          <p:nvPr/>
        </p:nvSpPr>
        <p:spPr>
          <a:xfrm>
            <a:off x="3282696" y="5669280"/>
            <a:ext cx="325526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30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Identidade consistente e mais confiável</a:t>
            </a:r>
            <a:endParaRPr lang="en-US" sz="1130" dirty="0"/>
          </a:p>
        </p:txBody>
      </p:sp>
      <p:sp>
        <p:nvSpPr>
          <p:cNvPr id="42" name="Shape 40"/>
          <p:cNvSpPr/>
          <p:nvPr/>
        </p:nvSpPr>
        <p:spPr>
          <a:xfrm>
            <a:off x="2971800" y="6099048"/>
            <a:ext cx="210312" cy="210312"/>
          </a:xfrm>
          <a:prstGeom prst="ellipse">
            <a:avLst/>
          </a:prstGeom>
          <a:solidFill>
            <a:srgbClr val="66725F"/>
          </a:solidFill>
          <a:ln w="12700">
            <a:solidFill>
              <a:srgbClr val="6672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17520" y="6153912"/>
            <a:ext cx="109728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5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580" dirty="0"/>
          </a:p>
        </p:txBody>
      </p:sp>
      <p:sp>
        <p:nvSpPr>
          <p:cNvPr id="44" name="Text 42"/>
          <p:cNvSpPr/>
          <p:nvPr/>
        </p:nvSpPr>
        <p:spPr>
          <a:xfrm>
            <a:off x="3282696" y="6089904"/>
            <a:ext cx="325526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30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Conteúdo educativo, comercial e institucional</a:t>
            </a:r>
            <a:endParaRPr lang="en-US" sz="1130" dirty="0"/>
          </a:p>
        </p:txBody>
      </p:sp>
      <p:sp>
        <p:nvSpPr>
          <p:cNvPr id="45" name="Shape 43"/>
          <p:cNvSpPr/>
          <p:nvPr/>
        </p:nvSpPr>
        <p:spPr>
          <a:xfrm>
            <a:off x="2971800" y="6519672"/>
            <a:ext cx="210312" cy="210312"/>
          </a:xfrm>
          <a:prstGeom prst="ellipse">
            <a:avLst/>
          </a:prstGeom>
          <a:solidFill>
            <a:srgbClr val="66725F"/>
          </a:solidFill>
          <a:ln w="12700">
            <a:solidFill>
              <a:srgbClr val="6672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17520" y="6574536"/>
            <a:ext cx="109728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5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580" dirty="0"/>
          </a:p>
        </p:txBody>
      </p:sp>
      <p:sp>
        <p:nvSpPr>
          <p:cNvPr id="47" name="Text 45"/>
          <p:cNvSpPr/>
          <p:nvPr/>
        </p:nvSpPr>
        <p:spPr>
          <a:xfrm>
            <a:off x="3282696" y="6510528"/>
            <a:ext cx="325526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30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Calendário pronto para manter o perfil em movimento</a:t>
            </a:r>
            <a:endParaRPr lang="en-US" sz="1130" dirty="0"/>
          </a:p>
        </p:txBody>
      </p:sp>
      <p:sp>
        <p:nvSpPr>
          <p:cNvPr id="48" name="Text 46"/>
          <p:cNvSpPr/>
          <p:nvPr/>
        </p:nvSpPr>
        <p:spPr>
          <a:xfrm>
            <a:off x="713232" y="7845552"/>
            <a:ext cx="58064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 prometer resultado mágico: a entrega aumenta clareza, presença e profissionalismo.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457200" y="8796528"/>
            <a:ext cx="192024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5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Victor Takayama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6583680" y="8796528"/>
            <a:ext cx="292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65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6492240" cy="0"/>
          </a:xfrm>
          <a:prstGeom prst="line">
            <a:avLst/>
          </a:prstGeom>
          <a:noFill/>
          <a:ln w="6985">
            <a:solidFill>
              <a:srgbClr val="D7C7B9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8732520"/>
            <a:ext cx="6492240" cy="0"/>
          </a:xfrm>
          <a:prstGeom prst="line">
            <a:avLst/>
          </a:prstGeom>
          <a:noFill/>
          <a:ln w="6985">
            <a:solidFill>
              <a:srgbClr val="D7C7B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713232"/>
            <a:ext cx="37490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6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OFERTA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566928" y="1060704"/>
            <a:ext cx="59436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2700" b="1" dirty="0">
                <a:solidFill>
                  <a:srgbClr val="2A21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Pacote Conteúdo Express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85216" y="1901952"/>
            <a:ext cx="58521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entrega objetiva para profissionais de beleza que precisam publicar com consistência sem perder horas criando do zero.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8368" y="2880360"/>
            <a:ext cx="5989320" cy="530352"/>
          </a:xfrm>
          <a:prstGeom prst="roundRect">
            <a:avLst>
              <a:gd name="adj" fmla="val 10345"/>
            </a:avLst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035808"/>
            <a:ext cx="32004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325880" y="2990088"/>
            <a:ext cx="21031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artes para Instagram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66160" y="2999232"/>
            <a:ext cx="23774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Feed, carrossel ou chamada de agenda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8368" y="3593592"/>
            <a:ext cx="5989320" cy="530352"/>
          </a:xfrm>
          <a:prstGeom prst="roundRect">
            <a:avLst>
              <a:gd name="adj" fmla="val 10345"/>
            </a:avLst>
          </a:prstGeom>
          <a:solidFill>
            <a:srgbClr val="E9DDD2"/>
          </a:solidFill>
          <a:ln w="12700">
            <a:solidFill>
              <a:srgbClr val="E9DD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749040"/>
            <a:ext cx="32004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325880" y="3703320"/>
            <a:ext cx="21031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legendas prontas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66160" y="3712464"/>
            <a:ext cx="23774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Textos adaptados aos serviços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58368" y="4306824"/>
            <a:ext cx="5989320" cy="530352"/>
          </a:xfrm>
          <a:prstGeom prst="roundRect">
            <a:avLst>
              <a:gd name="adj" fmla="val 10345"/>
            </a:avLst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462272"/>
            <a:ext cx="32004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325880" y="4416552"/>
            <a:ext cx="21031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roteiros de Reels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66160" y="4425696"/>
            <a:ext cx="23774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Ideias com gancho e chamada final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58368" y="5020056"/>
            <a:ext cx="5989320" cy="530352"/>
          </a:xfrm>
          <a:prstGeom prst="roundRect">
            <a:avLst>
              <a:gd name="adj" fmla="val 10345"/>
            </a:avLst>
          </a:prstGeom>
          <a:solidFill>
            <a:srgbClr val="E9DDD2"/>
          </a:solidFill>
          <a:ln w="12700">
            <a:solidFill>
              <a:srgbClr val="E9DD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175504"/>
            <a:ext cx="32004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325880" y="5129784"/>
            <a:ext cx="21031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Calendário de 7 dias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66160" y="5138928"/>
            <a:ext cx="23774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Sequência com função clara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58368" y="6144768"/>
            <a:ext cx="5989320" cy="1170432"/>
          </a:xfrm>
          <a:prstGeom prst="roundRect">
            <a:avLst>
              <a:gd name="adj" fmla="val 7031"/>
            </a:avLst>
          </a:prstGeom>
          <a:solidFill>
            <a:srgbClr val="2D231F"/>
          </a:solidFill>
          <a:ln w="12700">
            <a:solidFill>
              <a:srgbClr val="2D231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6446520"/>
            <a:ext cx="13258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R$ 147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2514600" y="6419088"/>
            <a:ext cx="13716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70" dirty="0">
                <a:solidFill>
                  <a:srgbClr val="E9DC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50% para iniciar</a:t>
            </a:r>
            <a:endParaRPr lang="en-US" sz="107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070" dirty="0">
                <a:solidFill>
                  <a:srgbClr val="E9DC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50% na entrega</a:t>
            </a:r>
            <a:endParaRPr lang="en-US" sz="1070" dirty="0"/>
          </a:p>
        </p:txBody>
      </p:sp>
      <p:sp>
        <p:nvSpPr>
          <p:cNvPr id="26" name="Shape 24"/>
          <p:cNvSpPr/>
          <p:nvPr/>
        </p:nvSpPr>
        <p:spPr>
          <a:xfrm>
            <a:off x="4343400" y="6720840"/>
            <a:ext cx="1005840" cy="0"/>
          </a:xfrm>
          <a:prstGeom prst="line">
            <a:avLst/>
          </a:prstGeom>
          <a:noFill/>
          <a:ln w="10160">
            <a:solidFill>
              <a:srgbClr val="B3865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43400" y="6419088"/>
            <a:ext cx="15544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Primeira versão em até 24h após briefing completo.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87552" y="7726680"/>
            <a:ext cx="53035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5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Inclui uma rodada de ajustes e arquivos editáveis no Canva.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8796528"/>
            <a:ext cx="192024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5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Victor Takayama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6583680" y="8796528"/>
            <a:ext cx="292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65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6492240" cy="0"/>
          </a:xfrm>
          <a:prstGeom prst="line">
            <a:avLst/>
          </a:prstGeom>
          <a:noFill/>
          <a:ln w="6985">
            <a:solidFill>
              <a:srgbClr val="D7C7B9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8732520"/>
            <a:ext cx="6492240" cy="0"/>
          </a:xfrm>
          <a:prstGeom prst="line">
            <a:avLst/>
          </a:prstGeom>
          <a:noFill/>
          <a:ln w="6985">
            <a:solidFill>
              <a:srgbClr val="D7C7B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713232"/>
            <a:ext cx="37490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6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PROJETO FICTÍCIO 01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566928" y="1060704"/>
            <a:ext cx="59436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2700" b="1" dirty="0">
                <a:solidFill>
                  <a:srgbClr val="2A21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Clínica Aura Pele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85216" y="1901952"/>
            <a:ext cx="58521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Estilo: sofisticado, calmo e confiável. Ideal para estética facial, limpeza de pele e tratamentos de autocuidado.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8368" y="2761488"/>
            <a:ext cx="1627632" cy="1627632"/>
          </a:xfrm>
          <a:prstGeom prst="roundRect">
            <a:avLst>
              <a:gd name="adj" fmla="val 4494"/>
            </a:avLst>
          </a:prstGeom>
          <a:solidFill>
            <a:srgbClr val="F8F0E8"/>
          </a:solidFill>
          <a:ln w="10160">
            <a:solidFill>
              <a:srgbClr val="E2CE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926080"/>
            <a:ext cx="1298448" cy="1298448"/>
          </a:xfrm>
          <a:prstGeom prst="rect">
            <a:avLst/>
          </a:prstGeom>
          <a:solidFill>
            <a:srgbClr val="FFF8F1"/>
          </a:solidFill>
          <a:ln w="12700">
            <a:solidFill>
              <a:srgbClr val="FFF8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072384"/>
            <a:ext cx="111556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20" b="1" dirty="0">
                <a:solidFill>
                  <a:srgbClr val="B38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AURA PELE</a:t>
            </a:r>
            <a:endParaRPr lang="en-US" sz="620" dirty="0"/>
          </a:p>
        </p:txBody>
      </p:sp>
      <p:sp>
        <p:nvSpPr>
          <p:cNvPr id="10" name="Shape 8"/>
          <p:cNvSpPr/>
          <p:nvPr/>
        </p:nvSpPr>
        <p:spPr>
          <a:xfrm>
            <a:off x="987552" y="3346704"/>
            <a:ext cx="969264" cy="0"/>
          </a:xfrm>
          <a:prstGeom prst="line">
            <a:avLst/>
          </a:prstGeom>
          <a:noFill/>
          <a:ln w="10160">
            <a:solidFill>
              <a:srgbClr val="B386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3566160"/>
            <a:ext cx="107899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84000"/>
              </a:lnSpc>
              <a:buNone/>
            </a:pPr>
            <a:r>
              <a:rPr lang="en-US" sz="1300" b="1" dirty="0">
                <a:solidFill>
                  <a:srgbClr val="2D23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Pele cuidada sem excesso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32688" y="3968496"/>
            <a:ext cx="107899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90" dirty="0">
                <a:solidFill>
                  <a:srgbClr val="2D23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avaliação aberta</a:t>
            </a:r>
            <a:endParaRPr lang="en-US" sz="690" dirty="0"/>
          </a:p>
        </p:txBody>
      </p:sp>
      <p:sp>
        <p:nvSpPr>
          <p:cNvPr id="13" name="Shape 11"/>
          <p:cNvSpPr/>
          <p:nvPr/>
        </p:nvSpPr>
        <p:spPr>
          <a:xfrm>
            <a:off x="2468880" y="2761488"/>
            <a:ext cx="1627632" cy="1627632"/>
          </a:xfrm>
          <a:prstGeom prst="roundRect">
            <a:avLst>
              <a:gd name="adj" fmla="val 4494"/>
            </a:avLst>
          </a:prstGeom>
          <a:solidFill>
            <a:srgbClr val="F8F0E8"/>
          </a:solidFill>
          <a:ln w="10160">
            <a:solidFill>
              <a:srgbClr val="E2CEC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33472" y="2926080"/>
            <a:ext cx="1298448" cy="1298448"/>
          </a:xfrm>
          <a:prstGeom prst="rect">
            <a:avLst/>
          </a:prstGeom>
          <a:solidFill>
            <a:srgbClr val="FFF8F1"/>
          </a:solidFill>
          <a:ln w="12700">
            <a:solidFill>
              <a:srgbClr val="FFF8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24912" y="3072384"/>
            <a:ext cx="111556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20" b="1" dirty="0">
                <a:solidFill>
                  <a:srgbClr val="B38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ROTINA FACIAL</a:t>
            </a:r>
            <a:endParaRPr lang="en-US" sz="620" dirty="0"/>
          </a:p>
        </p:txBody>
      </p:sp>
      <p:sp>
        <p:nvSpPr>
          <p:cNvPr id="16" name="Shape 14"/>
          <p:cNvSpPr/>
          <p:nvPr/>
        </p:nvSpPr>
        <p:spPr>
          <a:xfrm>
            <a:off x="2798064" y="3346704"/>
            <a:ext cx="969264" cy="0"/>
          </a:xfrm>
          <a:prstGeom prst="line">
            <a:avLst/>
          </a:prstGeom>
          <a:noFill/>
          <a:ln w="10160">
            <a:solidFill>
              <a:srgbClr val="B386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3566160"/>
            <a:ext cx="107899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84000"/>
              </a:lnSpc>
              <a:buNone/>
            </a:pPr>
            <a:r>
              <a:rPr lang="en-US" sz="1300" b="1" dirty="0">
                <a:solidFill>
                  <a:srgbClr val="2D23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sinais de que sua pele pede atenção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0" y="3968496"/>
            <a:ext cx="107899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90" dirty="0">
                <a:solidFill>
                  <a:srgbClr val="2D23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salve este post</a:t>
            </a:r>
            <a:endParaRPr lang="en-US" sz="690" dirty="0"/>
          </a:p>
        </p:txBody>
      </p:sp>
      <p:sp>
        <p:nvSpPr>
          <p:cNvPr id="19" name="Shape 17"/>
          <p:cNvSpPr/>
          <p:nvPr/>
        </p:nvSpPr>
        <p:spPr>
          <a:xfrm>
            <a:off x="4279392" y="2761488"/>
            <a:ext cx="1627632" cy="1627632"/>
          </a:xfrm>
          <a:prstGeom prst="roundRect">
            <a:avLst>
              <a:gd name="adj" fmla="val 4494"/>
            </a:avLst>
          </a:prstGeom>
          <a:solidFill>
            <a:srgbClr val="F8F0E8"/>
          </a:solidFill>
          <a:ln w="10160">
            <a:solidFill>
              <a:srgbClr val="E2CE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43984" y="2926080"/>
            <a:ext cx="1298448" cy="1298448"/>
          </a:xfrm>
          <a:prstGeom prst="rect">
            <a:avLst/>
          </a:prstGeom>
          <a:solidFill>
            <a:srgbClr val="FFF8F1"/>
          </a:solidFill>
          <a:ln w="12700">
            <a:solidFill>
              <a:srgbClr val="FFF8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35424" y="3072384"/>
            <a:ext cx="111556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20" b="1" dirty="0">
                <a:solidFill>
                  <a:srgbClr val="B38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ATENDIMENTOS</a:t>
            </a:r>
            <a:endParaRPr lang="en-US" sz="620" dirty="0"/>
          </a:p>
        </p:txBody>
      </p:sp>
      <p:sp>
        <p:nvSpPr>
          <p:cNvPr id="22" name="Shape 20"/>
          <p:cNvSpPr/>
          <p:nvPr/>
        </p:nvSpPr>
        <p:spPr>
          <a:xfrm>
            <a:off x="4608576" y="3346704"/>
            <a:ext cx="969264" cy="0"/>
          </a:xfrm>
          <a:prstGeom prst="line">
            <a:avLst/>
          </a:prstGeom>
          <a:noFill/>
          <a:ln w="10160">
            <a:solidFill>
              <a:srgbClr val="B386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53712" y="3566160"/>
            <a:ext cx="107899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84000"/>
              </a:lnSpc>
              <a:buNone/>
            </a:pPr>
            <a:r>
              <a:rPr lang="en-US" sz="1300" b="1" dirty="0">
                <a:solidFill>
                  <a:srgbClr val="2D23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 da semana aberta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53712" y="3968496"/>
            <a:ext cx="107899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90" dirty="0">
                <a:solidFill>
                  <a:srgbClr val="2D23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chame no WhatsApp</a:t>
            </a:r>
            <a:endParaRPr lang="en-US" sz="690" dirty="0"/>
          </a:p>
        </p:txBody>
      </p:sp>
      <p:sp>
        <p:nvSpPr>
          <p:cNvPr id="25" name="Shape 23"/>
          <p:cNvSpPr/>
          <p:nvPr/>
        </p:nvSpPr>
        <p:spPr>
          <a:xfrm>
            <a:off x="658368" y="4956048"/>
            <a:ext cx="5989320" cy="2331720"/>
          </a:xfrm>
          <a:prstGeom prst="roundRect">
            <a:avLst>
              <a:gd name="adj" fmla="val 3137"/>
            </a:avLst>
          </a:prstGeom>
          <a:solidFill>
            <a:srgbClr val="FFFDF8"/>
          </a:solidFill>
          <a:ln w="10160">
            <a:solidFill>
              <a:srgbClr val="D7C7B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5285232"/>
            <a:ext cx="13716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B38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Carrossel educativo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60120" y="5596128"/>
            <a:ext cx="44805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000" b="1" dirty="0">
                <a:solidFill>
                  <a:srgbClr val="2A21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Limpeza de pele: quando faz sentido?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60120" y="6327648"/>
            <a:ext cx="109728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Legenda pronta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60120" y="6629400"/>
            <a:ext cx="53035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3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Nem toda pele precisa de uma rotina complicada. Às vezes, o primeiro passo é entender o que deixa a pele opaca, sensível ou irregular. Uma avaliação ajuda a escolher cuidados com mais segurança.</a:t>
            </a:r>
            <a:endParaRPr lang="en-US" sz="1030" dirty="0"/>
          </a:p>
        </p:txBody>
      </p:sp>
      <p:sp>
        <p:nvSpPr>
          <p:cNvPr id="30" name="Text 28"/>
          <p:cNvSpPr/>
          <p:nvPr/>
        </p:nvSpPr>
        <p:spPr>
          <a:xfrm>
            <a:off x="457200" y="8796528"/>
            <a:ext cx="192024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5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Victor Takayama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6583680" y="8796528"/>
            <a:ext cx="292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65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6492240" cy="0"/>
          </a:xfrm>
          <a:prstGeom prst="line">
            <a:avLst/>
          </a:prstGeom>
          <a:noFill/>
          <a:ln w="6985">
            <a:solidFill>
              <a:srgbClr val="D7C7B9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8732520"/>
            <a:ext cx="6492240" cy="0"/>
          </a:xfrm>
          <a:prstGeom prst="line">
            <a:avLst/>
          </a:prstGeom>
          <a:noFill/>
          <a:ln w="6985">
            <a:solidFill>
              <a:srgbClr val="D7C7B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713232"/>
            <a:ext cx="37490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6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PROJETO FICTÍCIO 02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566928" y="1060704"/>
            <a:ext cx="59436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2700" b="1" dirty="0">
                <a:solidFill>
                  <a:srgbClr val="2A21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Luna Nails Studio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85216" y="1901952"/>
            <a:ext cx="58521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Estilo: jovem, colorido e comercial. Bom para manicure, nail designer e serviços com alta recorrência.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8368" y="2788920"/>
            <a:ext cx="1828800" cy="3108960"/>
          </a:xfrm>
          <a:prstGeom prst="roundRect">
            <a:avLst>
              <a:gd name="adj" fmla="val 7500"/>
            </a:avLst>
          </a:prstGeom>
          <a:solidFill>
            <a:srgbClr val="FFFDF8"/>
          </a:solidFill>
          <a:ln w="12700">
            <a:solidFill>
              <a:srgbClr val="CAB9A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862072"/>
            <a:ext cx="1682496" cy="2962656"/>
          </a:xfrm>
          <a:prstGeom prst="roundRect">
            <a:avLst>
              <a:gd name="adj" fmla="val 6522"/>
            </a:avLst>
          </a:prstGeom>
          <a:solidFill>
            <a:srgbClr val="FFF8F1"/>
          </a:solidFill>
          <a:ln w="12700">
            <a:solidFill>
              <a:srgbClr val="FFF8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3044952"/>
            <a:ext cx="14630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30" b="1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Luna Nails</a:t>
            </a:r>
            <a:endParaRPr lang="en-US" sz="730" dirty="0"/>
          </a:p>
        </p:txBody>
      </p:sp>
      <p:sp>
        <p:nvSpPr>
          <p:cNvPr id="10" name="Text 8"/>
          <p:cNvSpPr/>
          <p:nvPr/>
        </p:nvSpPr>
        <p:spPr>
          <a:xfrm>
            <a:off x="841248" y="3246120"/>
            <a:ext cx="146304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59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unhas e nail art</a:t>
            </a:r>
            <a:endParaRPr lang="en-US" sz="590" dirty="0"/>
          </a:p>
        </p:txBody>
      </p:sp>
      <p:sp>
        <p:nvSpPr>
          <p:cNvPr id="11" name="Shape 9"/>
          <p:cNvSpPr/>
          <p:nvPr/>
        </p:nvSpPr>
        <p:spPr>
          <a:xfrm>
            <a:off x="868680" y="3538728"/>
            <a:ext cx="432816" cy="432816"/>
          </a:xfrm>
          <a:prstGeom prst="rect">
            <a:avLst/>
          </a:prstGeom>
          <a:solidFill>
            <a:srgbClr val="F08173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56360" y="3538728"/>
            <a:ext cx="432816" cy="432816"/>
          </a:xfrm>
          <a:prstGeom prst="rect">
            <a:avLst/>
          </a:prstGeom>
          <a:solidFill>
            <a:srgbClr val="A5D9C7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44040" y="3538728"/>
            <a:ext cx="432816" cy="432816"/>
          </a:xfrm>
          <a:prstGeom prst="rect">
            <a:avLst/>
          </a:prstGeom>
          <a:solidFill>
            <a:srgbClr val="F3D579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4026408"/>
            <a:ext cx="432816" cy="432816"/>
          </a:xfrm>
          <a:prstGeom prst="rect">
            <a:avLst/>
          </a:prstGeom>
          <a:solidFill>
            <a:srgbClr val="D3BEE0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56360" y="4026408"/>
            <a:ext cx="432816" cy="43281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44040" y="4026408"/>
            <a:ext cx="432816" cy="432816"/>
          </a:xfrm>
          <a:prstGeom prst="rect">
            <a:avLst/>
          </a:prstGeom>
          <a:solidFill>
            <a:srgbClr val="F08173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514088"/>
            <a:ext cx="432816" cy="432816"/>
          </a:xfrm>
          <a:prstGeom prst="rect">
            <a:avLst/>
          </a:prstGeom>
          <a:solidFill>
            <a:srgbClr val="A5D9C7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56360" y="4514088"/>
            <a:ext cx="432816" cy="432816"/>
          </a:xfrm>
          <a:prstGeom prst="rect">
            <a:avLst/>
          </a:prstGeom>
          <a:solidFill>
            <a:srgbClr val="F3D579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44040" y="4514088"/>
            <a:ext cx="432816" cy="432816"/>
          </a:xfrm>
          <a:prstGeom prst="rect">
            <a:avLst/>
          </a:prstGeom>
          <a:solidFill>
            <a:srgbClr val="D3BEE0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5559552"/>
            <a:ext cx="146304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53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 com padrão + CTA</a:t>
            </a:r>
            <a:endParaRPr lang="en-US" sz="530" dirty="0"/>
          </a:p>
        </p:txBody>
      </p:sp>
      <p:sp>
        <p:nvSpPr>
          <p:cNvPr id="21" name="Shape 19"/>
          <p:cNvSpPr/>
          <p:nvPr/>
        </p:nvSpPr>
        <p:spPr>
          <a:xfrm>
            <a:off x="2834640" y="27889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4F7"/>
          </a:solidFill>
          <a:ln w="10160">
            <a:solidFill>
              <a:srgbClr val="F1C9D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94760" y="2953512"/>
            <a:ext cx="384048" cy="384048"/>
          </a:xfrm>
          <a:prstGeom prst="ellipse">
            <a:avLst/>
          </a:prstGeom>
          <a:solidFill>
            <a:srgbClr val="A5D9C7"/>
          </a:solidFill>
          <a:ln w="12700">
            <a:solidFill>
              <a:srgbClr val="A5D9C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99232" y="3749040"/>
            <a:ext cx="438912" cy="438912"/>
          </a:xfrm>
          <a:prstGeom prst="ellipse">
            <a:avLst/>
          </a:prstGeom>
          <a:solidFill>
            <a:srgbClr val="F3D579"/>
          </a:solidFill>
          <a:ln w="12700">
            <a:solidFill>
              <a:srgbClr val="F3D57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63240" y="3044952"/>
            <a:ext cx="1097280" cy="91440"/>
          </a:xfrm>
          <a:prstGeom prst="rect">
            <a:avLst/>
          </a:prstGeom>
          <a:solidFill>
            <a:srgbClr val="F08173"/>
          </a:solidFill>
          <a:ln w="12700">
            <a:solidFill>
              <a:srgbClr val="F0817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90672" y="3300984"/>
            <a:ext cx="104241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20" b="1" dirty="0">
                <a:solidFill>
                  <a:srgbClr val="F08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INSPO DA SEMANA</a:t>
            </a:r>
            <a:endParaRPr lang="en-US" sz="620" dirty="0"/>
          </a:p>
        </p:txBody>
      </p:sp>
      <p:sp>
        <p:nvSpPr>
          <p:cNvPr id="26" name="Text 24"/>
          <p:cNvSpPr/>
          <p:nvPr/>
        </p:nvSpPr>
        <p:spPr>
          <a:xfrm>
            <a:off x="3127248" y="3557016"/>
            <a:ext cx="96926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84000"/>
              </a:lnSpc>
              <a:buNone/>
            </a:pPr>
            <a:r>
              <a:rPr lang="en-US" sz="1400" b="1" dirty="0">
                <a:solidFill>
                  <a:srgbClr val="3122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 ideias para unhas delicadas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154680" y="3886200"/>
            <a:ext cx="914400" cy="347472"/>
          </a:xfrm>
          <a:prstGeom prst="roundRect">
            <a:avLst>
              <a:gd name="adj" fmla="val 21053"/>
            </a:avLst>
          </a:prstGeom>
          <a:solidFill>
            <a:srgbClr val="F08173"/>
          </a:solidFill>
          <a:ln w="12700">
            <a:solidFill>
              <a:srgbClr val="F0817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64408" y="3973068"/>
            <a:ext cx="694944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salvar ideias</a:t>
            </a:r>
            <a:endParaRPr lang="en-US" sz="760" dirty="0"/>
          </a:p>
        </p:txBody>
      </p:sp>
      <p:sp>
        <p:nvSpPr>
          <p:cNvPr id="29" name="Shape 27"/>
          <p:cNvSpPr/>
          <p:nvPr/>
        </p:nvSpPr>
        <p:spPr>
          <a:xfrm>
            <a:off x="4572000" y="27889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4F7"/>
          </a:solidFill>
          <a:ln w="10160">
            <a:solidFill>
              <a:srgbClr val="F1C9D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32120" y="2953512"/>
            <a:ext cx="384048" cy="384048"/>
          </a:xfrm>
          <a:prstGeom prst="ellipse">
            <a:avLst/>
          </a:prstGeom>
          <a:solidFill>
            <a:srgbClr val="A5D9C7"/>
          </a:solidFill>
          <a:ln w="12700">
            <a:solidFill>
              <a:srgbClr val="A5D9C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36592" y="3749040"/>
            <a:ext cx="438912" cy="438912"/>
          </a:xfrm>
          <a:prstGeom prst="ellipse">
            <a:avLst/>
          </a:prstGeom>
          <a:solidFill>
            <a:srgbClr val="F3D579"/>
          </a:solidFill>
          <a:ln w="12700">
            <a:solidFill>
              <a:srgbClr val="F3D57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0600" y="3044952"/>
            <a:ext cx="1097280" cy="91440"/>
          </a:xfrm>
          <a:prstGeom prst="rect">
            <a:avLst/>
          </a:prstGeom>
          <a:solidFill>
            <a:srgbClr val="F08173"/>
          </a:solidFill>
          <a:ln w="12700">
            <a:solidFill>
              <a:srgbClr val="F0817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3300984"/>
            <a:ext cx="104241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20" b="1" dirty="0">
                <a:solidFill>
                  <a:srgbClr val="F08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EXPRESS</a:t>
            </a:r>
            <a:endParaRPr lang="en-US" sz="620" dirty="0"/>
          </a:p>
        </p:txBody>
      </p:sp>
      <p:sp>
        <p:nvSpPr>
          <p:cNvPr id="34" name="Text 32"/>
          <p:cNvSpPr/>
          <p:nvPr/>
        </p:nvSpPr>
        <p:spPr>
          <a:xfrm>
            <a:off x="4864608" y="3557016"/>
            <a:ext cx="96926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84000"/>
              </a:lnSpc>
              <a:buNone/>
            </a:pPr>
            <a:r>
              <a:rPr lang="en-US" sz="1400" b="1" dirty="0">
                <a:solidFill>
                  <a:srgbClr val="3122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Horários livres sexta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892040" y="3886200"/>
            <a:ext cx="914400" cy="347472"/>
          </a:xfrm>
          <a:prstGeom prst="roundRect">
            <a:avLst>
              <a:gd name="adj" fmla="val 21053"/>
            </a:avLst>
          </a:prstGeom>
          <a:solidFill>
            <a:srgbClr val="F08173"/>
          </a:solidFill>
          <a:ln w="12700">
            <a:solidFill>
              <a:srgbClr val="F0817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01768" y="3973068"/>
            <a:ext cx="694944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reservar agora</a:t>
            </a:r>
            <a:endParaRPr lang="en-US" sz="760" dirty="0"/>
          </a:p>
        </p:txBody>
      </p:sp>
      <p:sp>
        <p:nvSpPr>
          <p:cNvPr id="37" name="Shape 35"/>
          <p:cNvSpPr/>
          <p:nvPr/>
        </p:nvSpPr>
        <p:spPr>
          <a:xfrm>
            <a:off x="2834640" y="4828032"/>
            <a:ext cx="3291840" cy="2103120"/>
          </a:xfrm>
          <a:prstGeom prst="roundRect">
            <a:avLst>
              <a:gd name="adj" fmla="val 3478"/>
            </a:avLst>
          </a:prstGeom>
          <a:solidFill>
            <a:srgbClr val="FFF5F7"/>
          </a:solidFill>
          <a:ln w="10160">
            <a:solidFill>
              <a:srgbClr val="F0CB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27248" y="5157216"/>
            <a:ext cx="109728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F08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 de Reels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127248" y="5468112"/>
            <a:ext cx="22402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1800" b="1" dirty="0">
                <a:solidFill>
                  <a:srgbClr val="2A21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Antes e depois</a:t>
            </a:r>
            <a:endParaRPr lang="en-US" sz="180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1800" b="1" dirty="0">
                <a:solidFill>
                  <a:srgbClr val="2A21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uma esmaltação</a:t>
            </a:r>
            <a:endParaRPr lang="en-US" sz="180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1800" b="1" dirty="0">
                <a:solidFill>
                  <a:srgbClr val="2A21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 drama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3127248" y="6327648"/>
            <a:ext cx="2560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Gancho: “Olha como uma cor muda a sensação da mão.”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127248" y="6693408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F08173"/>
          </a:solidFill>
          <a:ln w="12700">
            <a:solidFill>
              <a:srgbClr val="F0817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36976" y="6780276"/>
            <a:ext cx="1700784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roteiro pronto para gravar</a:t>
            </a:r>
            <a:endParaRPr lang="en-US" sz="760" dirty="0"/>
          </a:p>
        </p:txBody>
      </p:sp>
      <p:sp>
        <p:nvSpPr>
          <p:cNvPr id="43" name="Text 41"/>
          <p:cNvSpPr/>
          <p:nvPr/>
        </p:nvSpPr>
        <p:spPr>
          <a:xfrm>
            <a:off x="457200" y="8796528"/>
            <a:ext cx="192024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5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Victor Takayama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6583680" y="8796528"/>
            <a:ext cx="292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65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6492240" cy="0"/>
          </a:xfrm>
          <a:prstGeom prst="line">
            <a:avLst/>
          </a:prstGeom>
          <a:noFill/>
          <a:ln w="6985">
            <a:solidFill>
              <a:srgbClr val="D7C7B9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8732520"/>
            <a:ext cx="6492240" cy="0"/>
          </a:xfrm>
          <a:prstGeom prst="line">
            <a:avLst/>
          </a:prstGeom>
          <a:noFill/>
          <a:ln w="6985">
            <a:solidFill>
              <a:srgbClr val="D7C7B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713232"/>
            <a:ext cx="37490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6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PROJETO FICTÍCIO 03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566928" y="1060704"/>
            <a:ext cx="59436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2700" b="1" dirty="0">
                <a:solidFill>
                  <a:srgbClr val="2A21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Maison Brows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85216" y="1901952"/>
            <a:ext cx="58521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Estilo: editorial, elegante e direto. Ideal para designer de sobrancelhas, brow lamination e lash lifting.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8368" y="2788920"/>
            <a:ext cx="5989320" cy="2148840"/>
          </a:xfrm>
          <a:prstGeom prst="rect">
            <a:avLst/>
          </a:prstGeom>
          <a:solidFill>
            <a:srgbClr val="171413"/>
          </a:solidFill>
          <a:ln w="12700">
            <a:solidFill>
              <a:srgbClr val="17141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3127248"/>
            <a:ext cx="14173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B38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MAISON BROWS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60120" y="3456432"/>
            <a:ext cx="29260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Sobrancelhas</a:t>
            </a:r>
            <a:endParaRPr lang="en-US" sz="210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 desenho e presença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60120" y="4224528"/>
            <a:ext cx="34747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20" dirty="0">
                <a:solidFill>
                  <a:srgbClr val="D8CE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de posicionamento para reforçar técnica, cuidado e naturalidade no atendimento.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5166360" y="3246120"/>
            <a:ext cx="566928" cy="566928"/>
          </a:xfrm>
          <a:prstGeom prst="rect">
            <a:avLst/>
          </a:prstGeom>
          <a:solidFill>
            <a:srgbClr val="B38656"/>
          </a:solidFill>
          <a:ln w="12700">
            <a:solidFill>
              <a:srgbClr val="B3865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3886200"/>
            <a:ext cx="384048" cy="384048"/>
          </a:xfrm>
          <a:prstGeom prst="rect">
            <a:avLst/>
          </a:prstGeom>
          <a:solidFill>
            <a:srgbClr val="7A6655"/>
          </a:solidFill>
          <a:ln w="12700">
            <a:solidFill>
              <a:srgbClr val="7A66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5504688"/>
            <a:ext cx="1609344" cy="1609344"/>
          </a:xfrm>
          <a:prstGeom prst="roundRect">
            <a:avLst>
              <a:gd name="adj" fmla="val 4545"/>
            </a:avLst>
          </a:prstGeom>
          <a:solidFill>
            <a:srgbClr val="F0E9DF"/>
          </a:solidFill>
          <a:ln w="10160">
            <a:solidFill>
              <a:srgbClr val="473C3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" y="5650992"/>
            <a:ext cx="1316736" cy="1316736"/>
          </a:xfrm>
          <a:prstGeom prst="rect">
            <a:avLst/>
          </a:prstGeom>
          <a:solidFill>
            <a:srgbClr val="171413"/>
          </a:solidFill>
          <a:ln w="12700">
            <a:solidFill>
              <a:srgbClr val="17141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8408" y="5943600"/>
            <a:ext cx="969264" cy="0"/>
          </a:xfrm>
          <a:prstGeom prst="line">
            <a:avLst/>
          </a:prstGeom>
          <a:noFill/>
          <a:ln w="10160">
            <a:solidFill>
              <a:srgbClr val="B386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6126480"/>
            <a:ext cx="115214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590" b="1" dirty="0">
                <a:solidFill>
                  <a:srgbClr val="B38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AUTORIDADE</a:t>
            </a:r>
            <a:endParaRPr lang="en-US" sz="590" dirty="0"/>
          </a:p>
        </p:txBody>
      </p:sp>
      <p:sp>
        <p:nvSpPr>
          <p:cNvPr id="17" name="Text 15"/>
          <p:cNvSpPr/>
          <p:nvPr/>
        </p:nvSpPr>
        <p:spPr>
          <a:xfrm>
            <a:off x="914400" y="6364224"/>
            <a:ext cx="10972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127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Brow design não é cópia</a:t>
            </a:r>
            <a:endParaRPr lang="en-US" sz="1270" dirty="0"/>
          </a:p>
        </p:txBody>
      </p:sp>
      <p:sp>
        <p:nvSpPr>
          <p:cNvPr id="18" name="Text 16"/>
          <p:cNvSpPr/>
          <p:nvPr/>
        </p:nvSpPr>
        <p:spPr>
          <a:xfrm>
            <a:off x="914400" y="6729984"/>
            <a:ext cx="10972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4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entenda o formato</a:t>
            </a:r>
            <a:endParaRPr lang="en-US" sz="640" dirty="0"/>
          </a:p>
        </p:txBody>
      </p:sp>
      <p:sp>
        <p:nvSpPr>
          <p:cNvPr id="19" name="Shape 17"/>
          <p:cNvSpPr/>
          <p:nvPr/>
        </p:nvSpPr>
        <p:spPr>
          <a:xfrm>
            <a:off x="2487168" y="5504688"/>
            <a:ext cx="1609344" cy="1609344"/>
          </a:xfrm>
          <a:prstGeom prst="roundRect">
            <a:avLst>
              <a:gd name="adj" fmla="val 4545"/>
            </a:avLst>
          </a:prstGeom>
          <a:solidFill>
            <a:srgbClr val="F0E9DF"/>
          </a:solidFill>
          <a:ln w="10160">
            <a:solidFill>
              <a:srgbClr val="473C3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33472" y="5650992"/>
            <a:ext cx="1316736" cy="1316736"/>
          </a:xfrm>
          <a:prstGeom prst="rect">
            <a:avLst/>
          </a:prstGeom>
          <a:solidFill>
            <a:srgbClr val="171413"/>
          </a:solidFill>
          <a:ln w="12700">
            <a:solidFill>
              <a:srgbClr val="17141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07208" y="5943600"/>
            <a:ext cx="969264" cy="0"/>
          </a:xfrm>
          <a:prstGeom prst="line">
            <a:avLst/>
          </a:prstGeom>
          <a:noFill/>
          <a:ln w="10160">
            <a:solidFill>
              <a:srgbClr val="B3865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15768" y="6126480"/>
            <a:ext cx="115214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590" b="1" dirty="0">
                <a:solidFill>
                  <a:srgbClr val="B38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SERVIÇO</a:t>
            </a:r>
            <a:endParaRPr lang="en-US" sz="590" dirty="0"/>
          </a:p>
        </p:txBody>
      </p:sp>
      <p:sp>
        <p:nvSpPr>
          <p:cNvPr id="23" name="Text 21"/>
          <p:cNvSpPr/>
          <p:nvPr/>
        </p:nvSpPr>
        <p:spPr>
          <a:xfrm>
            <a:off x="2743200" y="6364224"/>
            <a:ext cx="10972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127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 de manutenção</a:t>
            </a:r>
            <a:endParaRPr lang="en-US" sz="1270" dirty="0"/>
          </a:p>
        </p:txBody>
      </p:sp>
      <p:sp>
        <p:nvSpPr>
          <p:cNvPr id="24" name="Text 22"/>
          <p:cNvSpPr/>
          <p:nvPr/>
        </p:nvSpPr>
        <p:spPr>
          <a:xfrm>
            <a:off x="2743200" y="6729984"/>
            <a:ext cx="10972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4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reserve horário</a:t>
            </a:r>
            <a:endParaRPr lang="en-US" sz="640" dirty="0"/>
          </a:p>
        </p:txBody>
      </p:sp>
      <p:sp>
        <p:nvSpPr>
          <p:cNvPr id="25" name="Shape 23"/>
          <p:cNvSpPr/>
          <p:nvPr/>
        </p:nvSpPr>
        <p:spPr>
          <a:xfrm>
            <a:off x="4315968" y="5504688"/>
            <a:ext cx="1609344" cy="1609344"/>
          </a:xfrm>
          <a:prstGeom prst="roundRect">
            <a:avLst>
              <a:gd name="adj" fmla="val 4545"/>
            </a:avLst>
          </a:prstGeom>
          <a:solidFill>
            <a:srgbClr val="F0E9DF"/>
          </a:solidFill>
          <a:ln w="10160">
            <a:solidFill>
              <a:srgbClr val="473C3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62272" y="5650992"/>
            <a:ext cx="1316736" cy="1316736"/>
          </a:xfrm>
          <a:prstGeom prst="rect">
            <a:avLst/>
          </a:prstGeom>
          <a:solidFill>
            <a:srgbClr val="171413"/>
          </a:solidFill>
          <a:ln w="12700">
            <a:solidFill>
              <a:srgbClr val="17141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36008" y="5943600"/>
            <a:ext cx="969264" cy="0"/>
          </a:xfrm>
          <a:prstGeom prst="line">
            <a:avLst/>
          </a:prstGeom>
          <a:noFill/>
          <a:ln w="10160">
            <a:solidFill>
              <a:srgbClr val="B3865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44568" y="6126480"/>
            <a:ext cx="115214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590" b="1" dirty="0">
                <a:solidFill>
                  <a:srgbClr val="B38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PÓS-ATENDIMENTO</a:t>
            </a:r>
            <a:endParaRPr lang="en-US" sz="590" dirty="0"/>
          </a:p>
        </p:txBody>
      </p:sp>
      <p:sp>
        <p:nvSpPr>
          <p:cNvPr id="29" name="Text 27"/>
          <p:cNvSpPr/>
          <p:nvPr/>
        </p:nvSpPr>
        <p:spPr>
          <a:xfrm>
            <a:off x="4572000" y="6364224"/>
            <a:ext cx="10972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127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cuidados após o procedimento</a:t>
            </a:r>
            <a:endParaRPr lang="en-US" sz="1270" dirty="0"/>
          </a:p>
        </p:txBody>
      </p:sp>
      <p:sp>
        <p:nvSpPr>
          <p:cNvPr id="30" name="Text 28"/>
          <p:cNvSpPr/>
          <p:nvPr/>
        </p:nvSpPr>
        <p:spPr>
          <a:xfrm>
            <a:off x="4572000" y="6729984"/>
            <a:ext cx="10972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4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salve para lembrar</a:t>
            </a:r>
            <a:endParaRPr lang="en-US" sz="640" dirty="0"/>
          </a:p>
        </p:txBody>
      </p:sp>
      <p:sp>
        <p:nvSpPr>
          <p:cNvPr id="31" name="Text 29"/>
          <p:cNvSpPr/>
          <p:nvPr/>
        </p:nvSpPr>
        <p:spPr>
          <a:xfrm>
            <a:off x="777240" y="7635240"/>
            <a:ext cx="5669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8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Legenda pronta: O melhor design respeita o seu rosto. Antes de pensar em tendência, observamos proporção, rotina e naturalidade.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457200" y="8796528"/>
            <a:ext cx="192024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5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Victor Takayama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6583680" y="8796528"/>
            <a:ext cx="292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65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6492240" cy="0"/>
          </a:xfrm>
          <a:prstGeom prst="line">
            <a:avLst/>
          </a:prstGeom>
          <a:noFill/>
          <a:ln w="6985">
            <a:solidFill>
              <a:srgbClr val="D7C7B9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8732520"/>
            <a:ext cx="6492240" cy="0"/>
          </a:xfrm>
          <a:prstGeom prst="line">
            <a:avLst/>
          </a:prstGeom>
          <a:noFill/>
          <a:ln w="6985">
            <a:solidFill>
              <a:srgbClr val="D7C7B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713232"/>
            <a:ext cx="37490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6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VARIEDADE VISUAL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566928" y="1060704"/>
            <a:ext cx="59436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2700" b="1" dirty="0">
                <a:solidFill>
                  <a:srgbClr val="2A21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Três direções, três públicos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85216" y="1901952"/>
            <a:ext cx="58521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portfólio demonstra adaptação: cada negócio pede um tom visual, uma linguagem e um tipo de chamada diferentes.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2788920"/>
            <a:ext cx="1572768" cy="1572768"/>
          </a:xfrm>
          <a:prstGeom prst="roundRect">
            <a:avLst>
              <a:gd name="adj" fmla="val 4651"/>
            </a:avLst>
          </a:prstGeom>
          <a:solidFill>
            <a:srgbClr val="F8F0E8"/>
          </a:solidFill>
          <a:ln w="10160">
            <a:solidFill>
              <a:srgbClr val="E2CE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2953512"/>
            <a:ext cx="1243584" cy="1243584"/>
          </a:xfrm>
          <a:prstGeom prst="rect">
            <a:avLst/>
          </a:prstGeom>
          <a:solidFill>
            <a:srgbClr val="FFF8F1"/>
          </a:solidFill>
          <a:ln w="12700">
            <a:solidFill>
              <a:srgbClr val="FFF8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099816"/>
            <a:ext cx="106070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20" b="1" dirty="0">
                <a:solidFill>
                  <a:srgbClr val="B38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AURA PELE</a:t>
            </a:r>
            <a:endParaRPr lang="en-US" sz="620" dirty="0"/>
          </a:p>
        </p:txBody>
      </p:sp>
      <p:sp>
        <p:nvSpPr>
          <p:cNvPr id="10" name="Shape 8"/>
          <p:cNvSpPr/>
          <p:nvPr/>
        </p:nvSpPr>
        <p:spPr>
          <a:xfrm>
            <a:off x="1060704" y="3374136"/>
            <a:ext cx="914400" cy="0"/>
          </a:xfrm>
          <a:prstGeom prst="line">
            <a:avLst/>
          </a:prstGeom>
          <a:noFill/>
          <a:ln w="10160">
            <a:solidFill>
              <a:srgbClr val="B386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593592"/>
            <a:ext cx="1024128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84000"/>
              </a:lnSpc>
              <a:buNone/>
            </a:pPr>
            <a:r>
              <a:rPr lang="en-US" sz="1300" b="1" dirty="0">
                <a:solidFill>
                  <a:srgbClr val="2D23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Pele cuidada sem excesso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3941064"/>
            <a:ext cx="102412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90" dirty="0">
                <a:solidFill>
                  <a:srgbClr val="2D23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avaliação aberta</a:t>
            </a:r>
            <a:endParaRPr lang="en-US" sz="690" dirty="0"/>
          </a:p>
        </p:txBody>
      </p:sp>
      <p:sp>
        <p:nvSpPr>
          <p:cNvPr id="13" name="Text 11"/>
          <p:cNvSpPr/>
          <p:nvPr/>
        </p:nvSpPr>
        <p:spPr>
          <a:xfrm>
            <a:off x="731520" y="4663440"/>
            <a:ext cx="17373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Clínica sofisticada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4956048"/>
            <a:ext cx="18288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clareza, calma e autoridade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871216" y="2788920"/>
            <a:ext cx="1572768" cy="1572768"/>
          </a:xfrm>
          <a:prstGeom prst="roundRect">
            <a:avLst>
              <a:gd name="adj" fmla="val 4651"/>
            </a:avLst>
          </a:prstGeom>
          <a:solidFill>
            <a:srgbClr val="FFF4F7"/>
          </a:solidFill>
          <a:ln w="10160">
            <a:solidFill>
              <a:srgbClr val="F1C9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9624" y="2953512"/>
            <a:ext cx="384048" cy="384048"/>
          </a:xfrm>
          <a:prstGeom prst="ellipse">
            <a:avLst/>
          </a:prstGeom>
          <a:solidFill>
            <a:srgbClr val="A5D9C7"/>
          </a:solidFill>
          <a:ln w="12700">
            <a:solidFill>
              <a:srgbClr val="A5D9C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35808" y="3767328"/>
            <a:ext cx="438912" cy="438912"/>
          </a:xfrm>
          <a:prstGeom prst="ellipse">
            <a:avLst/>
          </a:prstGeom>
          <a:solidFill>
            <a:srgbClr val="F3D579"/>
          </a:solidFill>
          <a:ln w="12700">
            <a:solidFill>
              <a:srgbClr val="F3D57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99816" y="3044952"/>
            <a:ext cx="1115568" cy="91440"/>
          </a:xfrm>
          <a:prstGeom prst="rect">
            <a:avLst/>
          </a:prstGeom>
          <a:solidFill>
            <a:srgbClr val="F08173"/>
          </a:solidFill>
          <a:ln w="12700">
            <a:solidFill>
              <a:srgbClr val="F081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27248" y="3300984"/>
            <a:ext cx="106070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20" b="1" dirty="0">
                <a:solidFill>
                  <a:srgbClr val="F08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LUNA NAILS</a:t>
            </a:r>
            <a:endParaRPr lang="en-US" sz="620" dirty="0"/>
          </a:p>
        </p:txBody>
      </p:sp>
      <p:sp>
        <p:nvSpPr>
          <p:cNvPr id="20" name="Text 18"/>
          <p:cNvSpPr/>
          <p:nvPr/>
        </p:nvSpPr>
        <p:spPr>
          <a:xfrm>
            <a:off x="3163824" y="3557016"/>
            <a:ext cx="98755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84000"/>
              </a:lnSpc>
              <a:buNone/>
            </a:pPr>
            <a:r>
              <a:rPr lang="en-US" sz="1400" b="1" dirty="0">
                <a:solidFill>
                  <a:srgbClr val="3122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Unhas da semana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191256" y="3904488"/>
            <a:ext cx="932688" cy="347472"/>
          </a:xfrm>
          <a:prstGeom prst="roundRect">
            <a:avLst>
              <a:gd name="adj" fmla="val 21053"/>
            </a:avLst>
          </a:prstGeom>
          <a:solidFill>
            <a:srgbClr val="F08173"/>
          </a:solidFill>
          <a:ln w="12700">
            <a:solidFill>
              <a:srgbClr val="F081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00984" y="3991356"/>
            <a:ext cx="713232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 horários</a:t>
            </a:r>
            <a:endParaRPr lang="en-US" sz="760" dirty="0"/>
          </a:p>
        </p:txBody>
      </p:sp>
      <p:sp>
        <p:nvSpPr>
          <p:cNvPr id="23" name="Text 21"/>
          <p:cNvSpPr/>
          <p:nvPr/>
        </p:nvSpPr>
        <p:spPr>
          <a:xfrm>
            <a:off x="2871216" y="4663440"/>
            <a:ext cx="17373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Studio vibrante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871216" y="4956048"/>
            <a:ext cx="18288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cor, recorrência e reserva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10912" y="2788920"/>
            <a:ext cx="1572768" cy="1572768"/>
          </a:xfrm>
          <a:prstGeom prst="roundRect">
            <a:avLst>
              <a:gd name="adj" fmla="val 4651"/>
            </a:avLst>
          </a:prstGeom>
          <a:solidFill>
            <a:srgbClr val="F0E9DF"/>
          </a:solidFill>
          <a:ln w="10160">
            <a:solidFill>
              <a:srgbClr val="473C3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57216" y="2935224"/>
            <a:ext cx="1280160" cy="1280160"/>
          </a:xfrm>
          <a:prstGeom prst="rect">
            <a:avLst/>
          </a:prstGeom>
          <a:solidFill>
            <a:srgbClr val="171413"/>
          </a:solidFill>
          <a:ln w="12700">
            <a:solidFill>
              <a:srgbClr val="17141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30952" y="3227832"/>
            <a:ext cx="932688" cy="0"/>
          </a:xfrm>
          <a:prstGeom prst="line">
            <a:avLst/>
          </a:prstGeom>
          <a:noFill/>
          <a:ln w="10160">
            <a:solidFill>
              <a:srgbClr val="B3865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39512" y="3410712"/>
            <a:ext cx="1115568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590" b="1" dirty="0">
                <a:solidFill>
                  <a:srgbClr val="B38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MAISON BROWS</a:t>
            </a:r>
            <a:endParaRPr lang="en-US" sz="590" dirty="0"/>
          </a:p>
        </p:txBody>
      </p:sp>
      <p:sp>
        <p:nvSpPr>
          <p:cNvPr id="29" name="Text 27"/>
          <p:cNvSpPr/>
          <p:nvPr/>
        </p:nvSpPr>
        <p:spPr>
          <a:xfrm>
            <a:off x="5266944" y="3648456"/>
            <a:ext cx="106070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127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Sobrancelhas com presença</a:t>
            </a:r>
            <a:endParaRPr lang="en-US" sz="1270" dirty="0"/>
          </a:p>
        </p:txBody>
      </p:sp>
      <p:sp>
        <p:nvSpPr>
          <p:cNvPr id="30" name="Text 28"/>
          <p:cNvSpPr/>
          <p:nvPr/>
        </p:nvSpPr>
        <p:spPr>
          <a:xfrm>
            <a:off x="5266944" y="3977640"/>
            <a:ext cx="1060704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4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reservas abertas</a:t>
            </a:r>
            <a:endParaRPr lang="en-US" sz="640" dirty="0"/>
          </a:p>
        </p:txBody>
      </p:sp>
      <p:sp>
        <p:nvSpPr>
          <p:cNvPr id="31" name="Text 29"/>
          <p:cNvSpPr/>
          <p:nvPr/>
        </p:nvSpPr>
        <p:spPr>
          <a:xfrm>
            <a:off x="5010912" y="4663440"/>
            <a:ext cx="17373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 editorial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10912" y="4956048"/>
            <a:ext cx="18288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técnica, elegância e precisão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13232" y="6126480"/>
            <a:ext cx="5943600" cy="960120"/>
          </a:xfrm>
          <a:prstGeom prst="roundRect">
            <a:avLst>
              <a:gd name="adj" fmla="val 7619"/>
            </a:avLst>
          </a:prstGeom>
          <a:solidFill>
            <a:srgbClr val="FFFDF8"/>
          </a:solidFill>
          <a:ln w="10160">
            <a:solidFill>
              <a:srgbClr val="D7C7B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0120" y="6446520"/>
            <a:ext cx="53949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230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objetivo não é usar o mesmo template para todo mundo. É adaptar o conteúdo ao posicionamento, ao serviço e ao tipo de cliente que o negócio quer atrair.</a:t>
            </a:r>
            <a:endParaRPr lang="en-US" sz="1230" dirty="0"/>
          </a:p>
        </p:txBody>
      </p:sp>
      <p:sp>
        <p:nvSpPr>
          <p:cNvPr id="35" name="Text 33"/>
          <p:cNvSpPr/>
          <p:nvPr/>
        </p:nvSpPr>
        <p:spPr>
          <a:xfrm>
            <a:off x="457200" y="8796528"/>
            <a:ext cx="192024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5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Victor Takayama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6583680" y="8796528"/>
            <a:ext cx="292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65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6492240" cy="0"/>
          </a:xfrm>
          <a:prstGeom prst="line">
            <a:avLst/>
          </a:prstGeom>
          <a:noFill/>
          <a:ln w="6985">
            <a:solidFill>
              <a:srgbClr val="D7C7B9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8732520"/>
            <a:ext cx="6492240" cy="0"/>
          </a:xfrm>
          <a:prstGeom prst="line">
            <a:avLst/>
          </a:prstGeom>
          <a:noFill/>
          <a:ln w="6985">
            <a:solidFill>
              <a:srgbClr val="D7C7B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713232"/>
            <a:ext cx="37490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6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VÍDEOS CURTOS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566928" y="1060704"/>
            <a:ext cx="59436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2700" b="1" dirty="0">
                <a:solidFill>
                  <a:srgbClr val="2A21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roteiros de Reels com estrutura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85216" y="1901952"/>
            <a:ext cx="58521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ideia já vem com gancho, cenas sugeridas e chamada final. Isso facilita gravar sem ficar improvisando.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8368" y="2880360"/>
            <a:ext cx="5989320" cy="987552"/>
          </a:xfrm>
          <a:prstGeom prst="roundRect">
            <a:avLst>
              <a:gd name="adj" fmla="val 7407"/>
            </a:avLst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3035808"/>
            <a:ext cx="31089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325880" y="3035808"/>
            <a:ext cx="21488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Bastidores que geram confiança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1325880" y="3364992"/>
            <a:ext cx="475488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Ambiente preparado, materiais organizados, detalhe do atendimento e texto: “antes do resultado, existe cuidado em cada etapa.”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58368" y="4160520"/>
            <a:ext cx="5989320" cy="987552"/>
          </a:xfrm>
          <a:prstGeom prst="roundRect">
            <a:avLst>
              <a:gd name="adj" fmla="val 7407"/>
            </a:avLst>
          </a:prstGeom>
          <a:solidFill>
            <a:srgbClr val="E9DDD2"/>
          </a:solidFill>
          <a:ln w="12700">
            <a:solidFill>
              <a:srgbClr val="E9DD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4315968"/>
            <a:ext cx="31089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325880" y="4315968"/>
            <a:ext cx="21488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Dúvida frequente que educa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1325880" y="4645152"/>
            <a:ext cx="475488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Gancho: “Preciso fazer esse procedimento todo mês?” Resposta em 3 pontos e chamada para avaliação.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58368" y="5440680"/>
            <a:ext cx="5989320" cy="987552"/>
          </a:xfrm>
          <a:prstGeom prst="roundRect">
            <a:avLst>
              <a:gd name="adj" fmla="val 7407"/>
            </a:avLst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5596128"/>
            <a:ext cx="31089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325880" y="5596128"/>
            <a:ext cx="21488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com urgência leve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1325880" y="5925312"/>
            <a:ext cx="475488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Mostre horários disponíveis, destaque 2 serviços e finalize com: “envie quero horário no WhatsApp.”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719072" y="7205472"/>
            <a:ext cx="3566160" cy="347472"/>
          </a:xfrm>
          <a:prstGeom prst="roundRect">
            <a:avLst>
              <a:gd name="adj" fmla="val 21053"/>
            </a:avLst>
          </a:prstGeom>
          <a:solidFill>
            <a:srgbClr val="2D231F"/>
          </a:solidFill>
          <a:ln w="12700">
            <a:solidFill>
              <a:srgbClr val="2D23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0" y="7292340"/>
            <a:ext cx="3346704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Duração sugerida: 15 a 25 segundos</a:t>
            </a:r>
            <a:endParaRPr lang="en-US" sz="760" dirty="0"/>
          </a:p>
        </p:txBody>
      </p:sp>
      <p:sp>
        <p:nvSpPr>
          <p:cNvPr id="21" name="Text 19"/>
          <p:cNvSpPr/>
          <p:nvPr/>
        </p:nvSpPr>
        <p:spPr>
          <a:xfrm>
            <a:off x="457200" y="8796528"/>
            <a:ext cx="192024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5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Victor Takayama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6583680" y="8796528"/>
            <a:ext cx="292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65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6492240" cy="0"/>
          </a:xfrm>
          <a:prstGeom prst="line">
            <a:avLst/>
          </a:prstGeom>
          <a:noFill/>
          <a:ln w="6985">
            <a:solidFill>
              <a:srgbClr val="D7C7B9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8732520"/>
            <a:ext cx="6492240" cy="0"/>
          </a:xfrm>
          <a:prstGeom prst="line">
            <a:avLst/>
          </a:prstGeom>
          <a:noFill/>
          <a:ln w="6985">
            <a:solidFill>
              <a:srgbClr val="D7C7B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713232"/>
            <a:ext cx="37490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6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PLANEJAMENTO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566928" y="1060704"/>
            <a:ext cx="59436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2700" b="1" dirty="0">
                <a:solidFill>
                  <a:srgbClr val="2A21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Calendário de conteúdo - 7 dias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85216" y="1901952"/>
            <a:ext cx="58521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sequência com função: posicionar, educar, mostrar bastidores e abrir conversa de agendamento.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8368" y="2788920"/>
            <a:ext cx="5989320" cy="438912"/>
          </a:xfrm>
          <a:prstGeom prst="roundRect">
            <a:avLst>
              <a:gd name="adj" fmla="val 10417"/>
            </a:avLst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926080"/>
            <a:ext cx="56692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 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536192" y="2898648"/>
            <a:ext cx="141732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80" b="1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Posicionamento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3182112" y="2898648"/>
            <a:ext cx="26517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4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Quem é a profissional e qual serviço principal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658368" y="3410712"/>
            <a:ext cx="5989320" cy="438912"/>
          </a:xfrm>
          <a:prstGeom prst="roundRect">
            <a:avLst>
              <a:gd name="adj" fmla="val 10417"/>
            </a:avLst>
          </a:prstGeom>
          <a:solidFill>
            <a:srgbClr val="E9DDD2"/>
          </a:solidFill>
          <a:ln w="12700">
            <a:solidFill>
              <a:srgbClr val="E9DD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547872"/>
            <a:ext cx="56692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 2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536192" y="3520440"/>
            <a:ext cx="141732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80" b="1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 bastidores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3182112" y="3520440"/>
            <a:ext cx="26517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4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Preparação do espaço e materiais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658368" y="4032504"/>
            <a:ext cx="5989320" cy="438912"/>
          </a:xfrm>
          <a:prstGeom prst="roundRect">
            <a:avLst>
              <a:gd name="adj" fmla="val 10417"/>
            </a:avLst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169664"/>
            <a:ext cx="56692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 3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536192" y="4142232"/>
            <a:ext cx="141732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80" b="1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educativo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3182112" y="4142232"/>
            <a:ext cx="26517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4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Dúvida comum respondida de forma simples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658368" y="4654296"/>
            <a:ext cx="5989320" cy="438912"/>
          </a:xfrm>
          <a:prstGeom prst="roundRect">
            <a:avLst>
              <a:gd name="adj" fmla="val 10417"/>
            </a:avLst>
          </a:prstGeom>
          <a:solidFill>
            <a:srgbClr val="E9DDD2"/>
          </a:solidFill>
          <a:ln w="12700">
            <a:solidFill>
              <a:srgbClr val="E9DD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791456"/>
            <a:ext cx="56692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 4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536192" y="4764024"/>
            <a:ext cx="141732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80" b="1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Reels dúvida frequente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3182112" y="4764024"/>
            <a:ext cx="26517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4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Resposta rápida com chamada para avaliação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658368" y="5276088"/>
            <a:ext cx="5989320" cy="438912"/>
          </a:xfrm>
          <a:prstGeom prst="roundRect">
            <a:avLst>
              <a:gd name="adj" fmla="val 10417"/>
            </a:avLst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5413248"/>
            <a:ext cx="56692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 5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536192" y="5385816"/>
            <a:ext cx="141732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80" b="1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demonstrativo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3182112" y="5385816"/>
            <a:ext cx="26517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4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Antes/depois autorizado ou detalhe do processo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658368" y="5897880"/>
            <a:ext cx="5989320" cy="438912"/>
          </a:xfrm>
          <a:prstGeom prst="roundRect">
            <a:avLst>
              <a:gd name="adj" fmla="val 10417"/>
            </a:avLst>
          </a:prstGeom>
          <a:solidFill>
            <a:srgbClr val="E9DDD2"/>
          </a:solidFill>
          <a:ln w="12700">
            <a:solidFill>
              <a:srgbClr val="E9DDD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6035040"/>
            <a:ext cx="56692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 6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536192" y="6007608"/>
            <a:ext cx="141732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80" b="1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aberta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3182112" y="6007608"/>
            <a:ext cx="26517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4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Horários disponíveis e serviço em destaque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658368" y="6519672"/>
            <a:ext cx="5989320" cy="438912"/>
          </a:xfrm>
          <a:prstGeom prst="roundRect">
            <a:avLst>
              <a:gd name="adj" fmla="val 10417"/>
            </a:avLst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6656832"/>
            <a:ext cx="56692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 7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1536192" y="6629400"/>
            <a:ext cx="141732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80" b="1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Reels bastidores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3182112" y="6629400"/>
            <a:ext cx="26517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4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Rotina do atendimento com chamada para WhatsApp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658368" y="7571232"/>
            <a:ext cx="5989320" cy="530352"/>
          </a:xfrm>
          <a:prstGeom prst="roundRect">
            <a:avLst>
              <a:gd name="adj" fmla="val 13793"/>
            </a:avLst>
          </a:prstGeom>
          <a:solidFill>
            <a:srgbClr val="2D231F"/>
          </a:solidFill>
          <a:ln w="12700">
            <a:solidFill>
              <a:srgbClr val="2D231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7763256"/>
            <a:ext cx="557784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Estratégia: cada post precisa ter função, não apenas ocupar espaço no feed.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8796528"/>
            <a:ext cx="192024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5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Victor Takayama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6583680" y="8796528"/>
            <a:ext cx="292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65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6492240" cy="0"/>
          </a:xfrm>
          <a:prstGeom prst="line">
            <a:avLst/>
          </a:prstGeom>
          <a:noFill/>
          <a:ln w="6985">
            <a:solidFill>
              <a:srgbClr val="D7C7B9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8732520"/>
            <a:ext cx="6492240" cy="0"/>
          </a:xfrm>
          <a:prstGeom prst="line">
            <a:avLst/>
          </a:prstGeom>
          <a:noFill/>
          <a:ln w="6985">
            <a:solidFill>
              <a:srgbClr val="D7C7B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713232"/>
            <a:ext cx="37490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6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 FUNCIONA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566928" y="1060704"/>
            <a:ext cx="59436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2700" b="1" dirty="0">
                <a:solidFill>
                  <a:srgbClr val="2A21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Processo simples, com escopo claro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85216" y="1901952"/>
            <a:ext cx="58521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evitar retrabalho e manter a entrega profissional desde o primeiro contato.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916936"/>
            <a:ext cx="310896" cy="310896"/>
          </a:xfrm>
          <a:prstGeom prst="ellipse">
            <a:avLst/>
          </a:prstGeom>
          <a:solidFill>
            <a:srgbClr val="9C5A4B"/>
          </a:solidFill>
          <a:ln w="12700">
            <a:solidFill>
              <a:srgbClr val="9C5A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" y="3017520"/>
            <a:ext cx="109728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325880" y="2898648"/>
            <a:ext cx="18288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30" b="1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Briefing rápido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1325880" y="3227832"/>
            <a:ext cx="42062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serviços, logo, cores, contato e referências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3849624"/>
            <a:ext cx="310896" cy="310896"/>
          </a:xfrm>
          <a:prstGeom prst="ellipse">
            <a:avLst/>
          </a:prstGeom>
          <a:solidFill>
            <a:srgbClr val="9C5A4B"/>
          </a:solidFill>
          <a:ln w="12700">
            <a:solidFill>
              <a:srgbClr val="9C5A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" y="3950208"/>
            <a:ext cx="109728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325880" y="3831336"/>
            <a:ext cx="18288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30" b="1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Primeira versão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1325880" y="4160520"/>
            <a:ext cx="42062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artes, legendas, roteiros e calendário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" y="4782312"/>
            <a:ext cx="310896" cy="310896"/>
          </a:xfrm>
          <a:prstGeom prst="ellipse">
            <a:avLst/>
          </a:prstGeom>
          <a:solidFill>
            <a:srgbClr val="9C5A4B"/>
          </a:solidFill>
          <a:ln w="12700">
            <a:solidFill>
              <a:srgbClr val="9C5A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544" y="4882896"/>
            <a:ext cx="109728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325880" y="4764024"/>
            <a:ext cx="18288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30" b="1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Ajustes finais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1325880" y="5093208"/>
            <a:ext cx="42062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rodada de alterações incluída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22960" y="5715000"/>
            <a:ext cx="310896" cy="310896"/>
          </a:xfrm>
          <a:prstGeom prst="ellipse">
            <a:avLst/>
          </a:prstGeom>
          <a:solidFill>
            <a:srgbClr val="9C5A4B"/>
          </a:solidFill>
          <a:ln w="12700">
            <a:solidFill>
              <a:srgbClr val="9C5A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" y="5815584"/>
            <a:ext cx="109728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325880" y="5696712"/>
            <a:ext cx="18288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30" b="1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 editável</a:t>
            </a:r>
            <a:endParaRPr lang="en-US" sz="1230" dirty="0"/>
          </a:p>
        </p:txBody>
      </p:sp>
      <p:sp>
        <p:nvSpPr>
          <p:cNvPr id="22" name="Text 20"/>
          <p:cNvSpPr/>
          <p:nvPr/>
        </p:nvSpPr>
        <p:spPr>
          <a:xfrm>
            <a:off x="1325880" y="6025896"/>
            <a:ext cx="42062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arquivos no Canva e textos prontos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8368" y="6903720"/>
            <a:ext cx="5989320" cy="73152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 w="10160">
            <a:solidFill>
              <a:srgbClr val="D7C7B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" y="7187184"/>
            <a:ext cx="544068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40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Escopo protegido: não inclui criação de logotipo, anúncios pagos ou promessas irreais de resultado.</a:t>
            </a:r>
            <a:endParaRPr lang="en-US" sz="1040" dirty="0"/>
          </a:p>
        </p:txBody>
      </p:sp>
      <p:sp>
        <p:nvSpPr>
          <p:cNvPr id="25" name="Text 23"/>
          <p:cNvSpPr/>
          <p:nvPr/>
        </p:nvSpPr>
        <p:spPr>
          <a:xfrm>
            <a:off x="457200" y="8796528"/>
            <a:ext cx="192024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5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Victor Takayama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6583680" y="8796528"/>
            <a:ext cx="292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650" dirty="0">
                <a:solidFill>
                  <a:srgbClr val="6F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D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6492240" cy="0"/>
          </a:xfrm>
          <a:prstGeom prst="line">
            <a:avLst/>
          </a:prstGeom>
          <a:noFill/>
          <a:ln w="6985">
            <a:solidFill>
              <a:srgbClr val="5B4D47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8732520"/>
            <a:ext cx="6492240" cy="0"/>
          </a:xfrm>
          <a:prstGeom prst="line">
            <a:avLst/>
          </a:prstGeom>
          <a:noFill/>
          <a:ln w="6985">
            <a:solidFill>
              <a:srgbClr val="5B4D47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713232"/>
            <a:ext cx="37490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60" b="1" dirty="0">
                <a:solidFill>
                  <a:srgbClr val="F3D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PRÓXIMO PASSO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566928" y="1060704"/>
            <a:ext cx="59436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Vamos organizar o conteúdo do seu Instagram?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85216" y="1901952"/>
            <a:ext cx="58521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E7DA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Você envia as informações. Eu preparo a primeira versão em até 24h após o briefing completo e apresento para aprovação.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3072384"/>
            <a:ext cx="210312" cy="210312"/>
          </a:xfrm>
          <a:prstGeom prst="ellipse">
            <a:avLst/>
          </a:prstGeom>
          <a:solidFill>
            <a:srgbClr val="B38656"/>
          </a:solidFill>
          <a:ln w="12700">
            <a:solidFill>
              <a:srgbClr val="B386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127248"/>
            <a:ext cx="109728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5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580" dirty="0"/>
          </a:p>
        </p:txBody>
      </p:sp>
      <p:sp>
        <p:nvSpPr>
          <p:cNvPr id="9" name="Text 7"/>
          <p:cNvSpPr/>
          <p:nvPr/>
        </p:nvSpPr>
        <p:spPr>
          <a:xfrm>
            <a:off x="1042416" y="3063240"/>
            <a:ext cx="44439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30" dirty="0">
                <a:solidFill>
                  <a:srgbClr val="E7DA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Pacote Conteúdo Express: R$ 147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731520" y="3529584"/>
            <a:ext cx="210312" cy="210312"/>
          </a:xfrm>
          <a:prstGeom prst="ellipse">
            <a:avLst/>
          </a:prstGeom>
          <a:solidFill>
            <a:srgbClr val="B38656"/>
          </a:solidFill>
          <a:ln w="12700">
            <a:solidFill>
              <a:srgbClr val="B386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584448"/>
            <a:ext cx="109728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5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580" dirty="0"/>
          </a:p>
        </p:txBody>
      </p:sp>
      <p:sp>
        <p:nvSpPr>
          <p:cNvPr id="12" name="Text 10"/>
          <p:cNvSpPr/>
          <p:nvPr/>
        </p:nvSpPr>
        <p:spPr>
          <a:xfrm>
            <a:off x="1042416" y="3520440"/>
            <a:ext cx="44439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30" dirty="0">
                <a:solidFill>
                  <a:srgbClr val="E7DA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50% para iniciar e 50% na entrega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731520" y="3986784"/>
            <a:ext cx="210312" cy="210312"/>
          </a:xfrm>
          <a:prstGeom prst="ellipse">
            <a:avLst/>
          </a:prstGeom>
          <a:solidFill>
            <a:srgbClr val="B38656"/>
          </a:solidFill>
          <a:ln w="12700">
            <a:solidFill>
              <a:srgbClr val="B386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041648"/>
            <a:ext cx="109728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5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580" dirty="0"/>
          </a:p>
        </p:txBody>
      </p:sp>
      <p:sp>
        <p:nvSpPr>
          <p:cNvPr id="15" name="Text 13"/>
          <p:cNvSpPr/>
          <p:nvPr/>
        </p:nvSpPr>
        <p:spPr>
          <a:xfrm>
            <a:off x="1042416" y="3977640"/>
            <a:ext cx="462686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30" dirty="0">
                <a:solidFill>
                  <a:srgbClr val="E7DA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artes, 6 legendas, 3 roteiros e calendário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960120" y="525780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FF7EF"/>
          </a:solidFill>
          <a:ln w="12700">
            <a:solidFill>
              <a:srgbClr val="FFF7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" y="5715000"/>
            <a:ext cx="46634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2A21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Victor Takayama | Conteúdo Digital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25880" y="6172200"/>
            <a:ext cx="466344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9C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WhatsApp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325880" y="6510528"/>
            <a:ext cx="46634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A21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(11) 95858-5228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2514600" y="7013448"/>
            <a:ext cx="2286000" cy="347472"/>
          </a:xfrm>
          <a:prstGeom prst="roundRect">
            <a:avLst>
              <a:gd name="adj" fmla="val 21053"/>
            </a:avLst>
          </a:prstGeom>
          <a:solidFill>
            <a:srgbClr val="9C5A4B"/>
          </a:solidFill>
          <a:ln w="12700">
            <a:solidFill>
              <a:srgbClr val="9C5A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24328" y="7100316"/>
            <a:ext cx="2066544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Chamar no WhatsApp</a:t>
            </a:r>
            <a:endParaRPr lang="en-US" sz="760" dirty="0"/>
          </a:p>
        </p:txBody>
      </p:sp>
      <p:sp>
        <p:nvSpPr>
          <p:cNvPr id="22" name="Text 20"/>
          <p:cNvSpPr/>
          <p:nvPr/>
        </p:nvSpPr>
        <p:spPr>
          <a:xfrm>
            <a:off x="457200" y="8796528"/>
            <a:ext cx="192024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50" dirty="0">
                <a:solidFill>
                  <a:srgbClr val="A99B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Victor Takayama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6583680" y="8796528"/>
            <a:ext cx="292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650" dirty="0">
                <a:solidFill>
                  <a:srgbClr val="A99B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Victor Takayama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Portfólio Conteúdo Beleza - Victor Takayama Premium</dc:title>
  <dc:subject>Portfólio premium demonstrativo para negócios de beleza</dc:subject>
  <dc:creator>Victor Takayama | Conteúdo Digital</dc:creator>
  <cp:lastModifiedBy>Victor Takayama | Conteúdo Digital</cp:lastModifiedBy>
  <cp:revision>1</cp:revision>
  <dcterms:created xsi:type="dcterms:W3CDTF">2026-07-30T22:16:02Z</dcterms:created>
  <dcterms:modified xsi:type="dcterms:W3CDTF">2026-07-30T22:16:02Z</dcterms:modified>
</cp:coreProperties>
</file>